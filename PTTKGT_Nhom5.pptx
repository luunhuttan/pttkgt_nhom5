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mbria Italics" panose="020B0604020202020204" charset="0"/>
      <p:regular r:id="rId20"/>
    </p:embeddedFont>
    <p:embeddedFont>
      <p:font typeface="Noto Sans Bold" panose="020B0604020202020204" charset="0"/>
      <p:regular r:id="rId21"/>
    </p:embeddedFont>
    <p:embeddedFont>
      <p:font typeface="Times New Roman Bold" panose="02020803070505020304" pitchFamily="18" charset="0"/>
      <p:regular r:id="rId22"/>
      <p:bold r:id="rId23"/>
    </p:embeddedFont>
    <p:embeddedFont>
      <p:font typeface="Times New Roman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3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960502" y="9045130"/>
            <a:ext cx="14740861" cy="38100"/>
          </a:xfrm>
          <a:custGeom>
            <a:avLst/>
            <a:gdLst/>
            <a:ahLst/>
            <a:cxnLst/>
            <a:rect l="l" t="t" r="r" b="b"/>
            <a:pathLst>
              <a:path w="14740861" h="38100">
                <a:moveTo>
                  <a:pt x="0" y="0"/>
                </a:moveTo>
                <a:lnTo>
                  <a:pt x="14740862" y="0"/>
                </a:lnTo>
                <a:lnTo>
                  <a:pt x="1474086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" r="-1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2104720"/>
            <a:ext cx="16230600" cy="1152525"/>
            <a:chOff x="0" y="0"/>
            <a:chExt cx="21640800" cy="1536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0800" cy="1536700"/>
            </a:xfrm>
            <a:custGeom>
              <a:avLst/>
              <a:gdLst/>
              <a:ahLst/>
              <a:cxnLst/>
              <a:rect l="l" t="t" r="r" b="b"/>
              <a:pathLst>
                <a:path w="21640800" h="1536700">
                  <a:moveTo>
                    <a:pt x="0" y="0"/>
                  </a:moveTo>
                  <a:lnTo>
                    <a:pt x="21640800" y="0"/>
                  </a:lnTo>
                  <a:lnTo>
                    <a:pt x="21640800" y="1536700"/>
                  </a:lnTo>
                  <a:lnTo>
                    <a:pt x="0" y="153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99" r="-259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6701364" y="2104720"/>
            <a:ext cx="763419" cy="1157059"/>
          </a:xfrm>
          <a:custGeom>
            <a:avLst/>
            <a:gdLst/>
            <a:ahLst/>
            <a:cxnLst/>
            <a:rect l="l" t="t" r="r" b="b"/>
            <a:pathLst>
              <a:path w="763419" h="1157059">
                <a:moveTo>
                  <a:pt x="0" y="0"/>
                </a:moveTo>
                <a:lnTo>
                  <a:pt x="763419" y="0"/>
                </a:lnTo>
                <a:lnTo>
                  <a:pt x="763419" y="1157059"/>
                </a:lnTo>
                <a:lnTo>
                  <a:pt x="0" y="1157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" r="-313"/>
            </a:stretch>
          </a:blipFill>
        </p:spPr>
      </p:sp>
      <p:graphicFrame>
        <p:nvGraphicFramePr>
          <p:cNvPr id="8" name="Object 8"/>
          <p:cNvGraphicFramePr/>
          <p:nvPr>
            <p:extLst>
              <p:ext uri="{D42A27DB-BD31-4B8C-83A1-F6EECF244321}">
                <p14:modId xmlns:p14="http://schemas.microsoft.com/office/powerpoint/2010/main" val="3147316916"/>
              </p:ext>
            </p:extLst>
          </p:nvPr>
        </p:nvGraphicFramePr>
        <p:xfrm>
          <a:off x="3025259" y="2869004"/>
          <a:ext cx="8915400" cy="5706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9105900" imgH="5791200" progId="Excel.Sheet.12">
                  <p:embed/>
                </p:oleObj>
              </mc:Choice>
              <mc:Fallback>
                <p:oleObj name="Worksheet" r:id="rId8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25259" y="2869004"/>
                        <a:ext cx="8915400" cy="5706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616735" y="2039293"/>
            <a:ext cx="14370015" cy="1079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 THUẬT- NHÓM 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1103" y="4544661"/>
            <a:ext cx="9911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100%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1103" y="5312034"/>
            <a:ext cx="9911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100%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51103" y="6019836"/>
            <a:ext cx="9911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100%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51103" y="6777122"/>
            <a:ext cx="9911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100%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51103" y="7483973"/>
            <a:ext cx="9911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100%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51103" y="8190823"/>
            <a:ext cx="9911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100%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4631" y="4460351"/>
            <a:ext cx="419657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 dirty="0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1.Lưu Nhựt Tân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24631" y="5173427"/>
            <a:ext cx="419657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2.Lê Minh Tân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24631" y="5976327"/>
            <a:ext cx="419657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3.Lê Quốc Thái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4631" y="6779227"/>
            <a:ext cx="419657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4.Nguyễn Vĩnh Phú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24631" y="7493602"/>
            <a:ext cx="419657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5.Phạm Ngọc Phước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24631" y="8190823"/>
            <a:ext cx="419657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6">
                <a:solidFill>
                  <a:srgbClr val="00000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6.Dương Hoàng Phúc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098780" y="-2408806"/>
            <a:ext cx="8915400" cy="8915400"/>
            <a:chOff x="0" y="0"/>
            <a:chExt cx="11887200" cy="11887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87200" cy="11887200"/>
            </a:xfrm>
            <a:custGeom>
              <a:avLst/>
              <a:gdLst/>
              <a:ahLst/>
              <a:cxnLst/>
              <a:rect l="l" t="t" r="r" b="b"/>
              <a:pathLst>
                <a:path w="11887200" h="11887200">
                  <a:moveTo>
                    <a:pt x="0" y="0"/>
                  </a:moveTo>
                  <a:lnTo>
                    <a:pt x="11887200" y="11887200"/>
                  </a:lnTo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5841980" y="6918074"/>
            <a:ext cx="5760720" cy="5760720"/>
            <a:chOff x="0" y="0"/>
            <a:chExt cx="7680960" cy="7680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80960" cy="7680960"/>
            </a:xfrm>
            <a:custGeom>
              <a:avLst/>
              <a:gdLst/>
              <a:ahLst/>
              <a:cxnLst/>
              <a:rect l="l" t="t" r="r" b="b"/>
              <a:pathLst>
                <a:path w="7680960" h="7680960">
                  <a:moveTo>
                    <a:pt x="0" y="0"/>
                  </a:moveTo>
                  <a:lnTo>
                    <a:pt x="7680960" y="7680960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-2537460" y="8015354"/>
            <a:ext cx="4937760" cy="4937760"/>
            <a:chOff x="0" y="0"/>
            <a:chExt cx="6583680" cy="65836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83680" cy="6583680"/>
            </a:xfrm>
            <a:custGeom>
              <a:avLst/>
              <a:gdLst/>
              <a:ahLst/>
              <a:cxnLst/>
              <a:rect l="l" t="t" r="r" b="b"/>
              <a:pathLst>
                <a:path w="6583680" h="6583680">
                  <a:moveTo>
                    <a:pt x="0" y="0"/>
                  </a:moveTo>
                  <a:lnTo>
                    <a:pt x="6583680" y="6583680"/>
                  </a:lnTo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1637414"/>
            <a:ext cx="987552" cy="987552"/>
            <a:chOff x="0" y="0"/>
            <a:chExt cx="1316736" cy="13167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0"/>
                  </a:moveTo>
                  <a:lnTo>
                    <a:pt x="1316736" y="131673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57078" y="1765802"/>
            <a:ext cx="730787" cy="730787"/>
            <a:chOff x="0" y="0"/>
            <a:chExt cx="974382" cy="97438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74344" cy="974344"/>
            </a:xfrm>
            <a:custGeom>
              <a:avLst/>
              <a:gdLst/>
              <a:ahLst/>
              <a:cxnLst/>
              <a:rect l="l" t="t" r="r" b="b"/>
              <a:pathLst>
                <a:path w="974344" h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194560" y="1637414"/>
            <a:ext cx="10972800" cy="987552"/>
            <a:chOff x="0" y="0"/>
            <a:chExt cx="14630400" cy="13167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0400" cy="1316736"/>
            </a:xfrm>
            <a:custGeom>
              <a:avLst/>
              <a:gdLst/>
              <a:ahLst/>
              <a:cxnLst/>
              <a:rect l="l" t="t" r="r" b="b"/>
              <a:pathLst>
                <a:path w="14630400" h="1316736">
                  <a:moveTo>
                    <a:pt x="0" y="0"/>
                  </a:moveTo>
                  <a:lnTo>
                    <a:pt x="14630400" y="0"/>
                  </a:lnTo>
                  <a:lnTo>
                    <a:pt x="14630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4630400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300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PHÂN TÍCH THIẾT KẾ GIẢI THUẬT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22476" y="3076489"/>
            <a:ext cx="15087600" cy="2880360"/>
            <a:chOff x="0" y="0"/>
            <a:chExt cx="20116800" cy="3840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116800" cy="3840480"/>
            </a:xfrm>
            <a:custGeom>
              <a:avLst/>
              <a:gdLst/>
              <a:ahLst/>
              <a:cxnLst/>
              <a:rect l="l" t="t" r="r" b="b"/>
              <a:pathLst>
                <a:path w="20116800" h="3840480">
                  <a:moveTo>
                    <a:pt x="0" y="0"/>
                  </a:moveTo>
                  <a:lnTo>
                    <a:pt x="20116800" y="0"/>
                  </a:lnTo>
                  <a:lnTo>
                    <a:pt x="2011680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64" b="-5206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0116800" cy="3916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16"/>
                </a:lnSpc>
              </a:pPr>
              <a:r>
                <a:rPr lang="en-US" sz="66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TỐI ƯU HÓA PHÂN BỔ NGÂN SÁCH</a:t>
              </a:r>
            </a:p>
            <a:p>
              <a:pPr algn="ctr">
                <a:lnSpc>
                  <a:spcPts val="8316"/>
                </a:lnSpc>
              </a:pPr>
              <a:r>
                <a:rPr lang="en-US" sz="66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QUẢNG CÁO TRỰC TUYẾN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6575174"/>
            <a:ext cx="13167360" cy="1303020"/>
            <a:chOff x="0" y="0"/>
            <a:chExt cx="17556480" cy="1737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556480" cy="1737360"/>
            </a:xfrm>
            <a:custGeom>
              <a:avLst/>
              <a:gdLst/>
              <a:ahLst/>
              <a:cxnLst/>
              <a:rect l="l" t="t" r="r" b="b"/>
              <a:pathLst>
                <a:path w="17556480" h="1737360">
                  <a:moveTo>
                    <a:pt x="0" y="0"/>
                  </a:moveTo>
                  <a:lnTo>
                    <a:pt x="17556480" y="0"/>
                  </a:lnTo>
                  <a:lnTo>
                    <a:pt x="175564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901" b="-14690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7556480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08"/>
                </a:lnSpc>
              </a:pPr>
              <a:r>
                <a:rPr lang="en-US" sz="2325" i="1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So sánh chiến lược Quy hoạch động (Dynamic Programming) và Tham lam (Greedy) trên bài toán Cái túi 0/1 — ứng dụng lựa chọn chiến dịch quảng cáo tối ưu trong giới hạn ngân sách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8426834"/>
            <a:ext cx="3682746" cy="603504"/>
            <a:chOff x="0" y="0"/>
            <a:chExt cx="4910328" cy="804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10328" cy="804672"/>
            </a:xfrm>
            <a:custGeom>
              <a:avLst/>
              <a:gdLst/>
              <a:ahLst/>
              <a:cxnLst/>
              <a:rect l="l" t="t" r="r" b="b"/>
              <a:pathLst>
                <a:path w="4910328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507992" y="0"/>
                  </a:lnTo>
                  <a:cubicBezTo>
                    <a:pt x="4730242" y="0"/>
                    <a:pt x="4910328" y="180086"/>
                    <a:pt x="4910328" y="402336"/>
                  </a:cubicBezTo>
                  <a:cubicBezTo>
                    <a:pt x="4910328" y="624586"/>
                    <a:pt x="4730242" y="804672"/>
                    <a:pt x="4507992" y="804672"/>
                  </a:cubicBezTo>
                  <a:lnTo>
                    <a:pt x="402336" y="804672"/>
                  </a:ln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28700" y="8426834"/>
            <a:ext cx="3682746" cy="603504"/>
            <a:chOff x="0" y="0"/>
            <a:chExt cx="4910328" cy="8046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10328" cy="804672"/>
            </a:xfrm>
            <a:custGeom>
              <a:avLst/>
              <a:gdLst/>
              <a:ahLst/>
              <a:cxnLst/>
              <a:rect l="l" t="t" r="r" b="b"/>
              <a:pathLst>
                <a:path w="4910328" h="804672">
                  <a:moveTo>
                    <a:pt x="0" y="0"/>
                  </a:moveTo>
                  <a:lnTo>
                    <a:pt x="4910328" y="0"/>
                  </a:lnTo>
                  <a:lnTo>
                    <a:pt x="4910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8903" b="-689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4910328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Dynamic Programming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054346" y="8426834"/>
            <a:ext cx="3209544" cy="603504"/>
            <a:chOff x="0" y="0"/>
            <a:chExt cx="4279392" cy="8046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279392" cy="804672"/>
            </a:xfrm>
            <a:custGeom>
              <a:avLst/>
              <a:gdLst/>
              <a:ahLst/>
              <a:cxnLst/>
              <a:rect l="l" t="t" r="r" b="b"/>
              <a:pathLst>
                <a:path w="427939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3877056" y="0"/>
                  </a:lnTo>
                  <a:cubicBezTo>
                    <a:pt x="4099306" y="0"/>
                    <a:pt x="4279392" y="180086"/>
                    <a:pt x="4279392" y="402336"/>
                  </a:cubicBezTo>
                  <a:cubicBezTo>
                    <a:pt x="4279392" y="624586"/>
                    <a:pt x="4099306" y="804672"/>
                    <a:pt x="3877056" y="804672"/>
                  </a:cubicBezTo>
                  <a:lnTo>
                    <a:pt x="402336" y="804672"/>
                  </a:ln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054346" y="8426834"/>
            <a:ext cx="3209544" cy="603504"/>
            <a:chOff x="0" y="0"/>
            <a:chExt cx="4279392" cy="8046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79392" cy="804672"/>
            </a:xfrm>
            <a:custGeom>
              <a:avLst/>
              <a:gdLst/>
              <a:ahLst/>
              <a:cxnLst/>
              <a:rect l="l" t="t" r="r" b="b"/>
              <a:pathLst>
                <a:path w="4279392" h="804672">
                  <a:moveTo>
                    <a:pt x="0" y="0"/>
                  </a:moveTo>
                  <a:lnTo>
                    <a:pt x="4279392" y="0"/>
                  </a:lnTo>
                  <a:lnTo>
                    <a:pt x="42793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624" b="-5362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4279392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Greedy Algorithm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606790" y="8426834"/>
            <a:ext cx="2578608" cy="603504"/>
            <a:chOff x="0" y="0"/>
            <a:chExt cx="3438144" cy="8046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38144" cy="804672"/>
            </a:xfrm>
            <a:custGeom>
              <a:avLst/>
              <a:gdLst/>
              <a:ahLst/>
              <a:cxnLst/>
              <a:rect l="l" t="t" r="r" b="b"/>
              <a:pathLst>
                <a:path w="3438144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3035808" y="0"/>
                  </a:lnTo>
                  <a:cubicBezTo>
                    <a:pt x="3258058" y="0"/>
                    <a:pt x="3438144" y="180086"/>
                    <a:pt x="3438144" y="402336"/>
                  </a:cubicBezTo>
                  <a:cubicBezTo>
                    <a:pt x="3438144" y="624586"/>
                    <a:pt x="3258058" y="804672"/>
                    <a:pt x="3035808" y="804672"/>
                  </a:cubicBezTo>
                  <a:lnTo>
                    <a:pt x="402336" y="804672"/>
                  </a:ln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8606790" y="8426834"/>
            <a:ext cx="2578608" cy="603504"/>
            <a:chOff x="0" y="0"/>
            <a:chExt cx="3438144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38144" cy="804672"/>
            </a:xfrm>
            <a:custGeom>
              <a:avLst/>
              <a:gdLst/>
              <a:ahLst/>
              <a:cxnLst/>
              <a:rect l="l" t="t" r="r" b="b"/>
              <a:pathLst>
                <a:path w="3438144" h="804672">
                  <a:moveTo>
                    <a:pt x="0" y="0"/>
                  </a:moveTo>
                  <a:lnTo>
                    <a:pt x="3438144" y="0"/>
                  </a:lnTo>
                  <a:lnTo>
                    <a:pt x="34381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3438144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Knapsack 0/1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20782" y="1414196"/>
            <a:ext cx="4018788" cy="466344"/>
            <a:chOff x="0" y="0"/>
            <a:chExt cx="5358384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58384" cy="621792"/>
            </a:xfrm>
            <a:custGeom>
              <a:avLst/>
              <a:gdLst/>
              <a:ahLst/>
              <a:cxnLst/>
              <a:rect l="l" t="t" r="r" b="b"/>
              <a:pathLst>
                <a:path w="5358384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2080" y="0"/>
                  </a:lnTo>
                  <a:cubicBezTo>
                    <a:pt x="5292852" y="0"/>
                    <a:pt x="5358384" y="65532"/>
                    <a:pt x="5358384" y="146304"/>
                  </a:cubicBezTo>
                  <a:lnTo>
                    <a:pt x="5358384" y="475488"/>
                  </a:lnTo>
                  <a:cubicBezTo>
                    <a:pt x="5358384" y="556260"/>
                    <a:pt x="5292852" y="621792"/>
                    <a:pt x="5212080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06374" y="1370162"/>
            <a:ext cx="4018788" cy="466344"/>
            <a:chOff x="0" y="0"/>
            <a:chExt cx="5358384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58384" cy="621792"/>
            </a:xfrm>
            <a:custGeom>
              <a:avLst/>
              <a:gdLst/>
              <a:ahLst/>
              <a:cxnLst/>
              <a:rect l="l" t="t" r="r" b="b"/>
              <a:pathLst>
                <a:path w="5358384" h="621792">
                  <a:moveTo>
                    <a:pt x="0" y="0"/>
                  </a:moveTo>
                  <a:lnTo>
                    <a:pt x="5358384" y="0"/>
                  </a:lnTo>
                  <a:lnTo>
                    <a:pt x="535838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915" b="-1179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358384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NỘI DUNG TRÌNH BÀY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236" y="2393156"/>
            <a:ext cx="8038147" cy="1468183"/>
            <a:chOff x="0" y="0"/>
            <a:chExt cx="10717530" cy="19575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1268" y="2400300"/>
            <a:ext cx="1234440" cy="1453896"/>
            <a:chOff x="0" y="0"/>
            <a:chExt cx="1645920" cy="19385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57400" y="2798064"/>
            <a:ext cx="658368" cy="658368"/>
            <a:chOff x="0" y="0"/>
            <a:chExt cx="877824" cy="8778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142992" y="2883656"/>
            <a:ext cx="487194" cy="487194"/>
            <a:chOff x="0" y="0"/>
            <a:chExt cx="649592" cy="64959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2948940" y="2400300"/>
            <a:ext cx="5623560" cy="1453896"/>
            <a:chOff x="0" y="0"/>
            <a:chExt cx="7498080" cy="19385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Giới thiệu bài toán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7236" y="4148804"/>
            <a:ext cx="8038147" cy="1468183"/>
            <a:chOff x="0" y="0"/>
            <a:chExt cx="10717530" cy="19575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01268" y="4155948"/>
            <a:ext cx="1234440" cy="1453896"/>
            <a:chOff x="0" y="0"/>
            <a:chExt cx="1645920" cy="19385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57400" y="4553712"/>
            <a:ext cx="658368" cy="658368"/>
            <a:chOff x="0" y="0"/>
            <a:chExt cx="877824" cy="8778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142992" y="4639304"/>
            <a:ext cx="487194" cy="487194"/>
            <a:chOff x="0" y="0"/>
            <a:chExt cx="649592" cy="649592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2948940" y="4155948"/>
            <a:ext cx="5623560" cy="1453896"/>
            <a:chOff x="0" y="0"/>
            <a:chExt cx="7498080" cy="19385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Đặt vấn đề &amp; Mô hình hóa toán học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47236" y="5904452"/>
            <a:ext cx="8038147" cy="1468183"/>
            <a:chOff x="0" y="0"/>
            <a:chExt cx="10717530" cy="195757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01268" y="5911596"/>
            <a:ext cx="1234440" cy="1453896"/>
            <a:chOff x="0" y="0"/>
            <a:chExt cx="1645920" cy="19385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057400" y="6309360"/>
            <a:ext cx="658368" cy="658368"/>
            <a:chOff x="0" y="0"/>
            <a:chExt cx="877824" cy="87782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2142992" y="6394952"/>
            <a:ext cx="487194" cy="487194"/>
            <a:chOff x="0" y="0"/>
            <a:chExt cx="649592" cy="649592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2948940" y="5911596"/>
            <a:ext cx="5623560" cy="1453896"/>
            <a:chOff x="0" y="0"/>
            <a:chExt cx="7498080" cy="193852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Cách giải quyết: hai chiến lược thiết kế giải thuật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7236" y="7660100"/>
            <a:ext cx="8038147" cy="1468183"/>
            <a:chOff x="0" y="0"/>
            <a:chExt cx="10717530" cy="195757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001268" y="7667244"/>
            <a:ext cx="1234440" cy="1453896"/>
            <a:chOff x="0" y="0"/>
            <a:chExt cx="1645920" cy="193852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057400" y="8065008"/>
            <a:ext cx="658368" cy="658368"/>
            <a:chOff x="0" y="0"/>
            <a:chExt cx="877824" cy="87782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2142992" y="8150600"/>
            <a:ext cx="487194" cy="487194"/>
            <a:chOff x="0" y="0"/>
            <a:chExt cx="649592" cy="649592"/>
          </a:xfrm>
        </p:grpSpPr>
        <p:sp>
          <p:nvSpPr>
            <p:cNvPr id="54" name="Freeform 54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1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2948940" y="7667244"/>
            <a:ext cx="5623560" cy="1453896"/>
            <a:chOff x="0" y="0"/>
            <a:chExt cx="7498080" cy="193852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Quy hoạch động (Dynamic Programming)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456896" y="2393156"/>
            <a:ext cx="8038147" cy="1468183"/>
            <a:chOff x="0" y="0"/>
            <a:chExt cx="10717530" cy="195757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710928" y="2400300"/>
            <a:ext cx="1234440" cy="1453896"/>
            <a:chOff x="0" y="0"/>
            <a:chExt cx="1645920" cy="193852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767060" y="2798064"/>
            <a:ext cx="658368" cy="658368"/>
            <a:chOff x="0" y="0"/>
            <a:chExt cx="877824" cy="87782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0852652" y="2883656"/>
            <a:ext cx="487194" cy="487194"/>
            <a:chOff x="0" y="0"/>
            <a:chExt cx="649592" cy="649592"/>
          </a:xfrm>
        </p:grpSpPr>
        <p:sp>
          <p:nvSpPr>
            <p:cNvPr id="66" name="Freeform 66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1" b="1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1658600" y="2400300"/>
            <a:ext cx="5623560" cy="1453896"/>
            <a:chOff x="0" y="0"/>
            <a:chExt cx="7498080" cy="193852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Chiến lược Tham lam (Greedy Algorithm)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456896" y="4148804"/>
            <a:ext cx="8038147" cy="1468183"/>
            <a:chOff x="0" y="0"/>
            <a:chExt cx="10717530" cy="195757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9710928" y="4155948"/>
            <a:ext cx="1234440" cy="1453896"/>
            <a:chOff x="0" y="0"/>
            <a:chExt cx="1645920" cy="193852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767060" y="4553712"/>
            <a:ext cx="658368" cy="658368"/>
            <a:chOff x="0" y="0"/>
            <a:chExt cx="877824" cy="87782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0852652" y="4639304"/>
            <a:ext cx="487194" cy="487194"/>
            <a:chOff x="0" y="0"/>
            <a:chExt cx="649592" cy="649592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" b="1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11658600" y="4155948"/>
            <a:ext cx="5623560" cy="1453896"/>
            <a:chOff x="0" y="0"/>
            <a:chExt cx="7498080" cy="193852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 sánh hiệu suất hai chiến lược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456896" y="5904452"/>
            <a:ext cx="8038147" cy="1468183"/>
            <a:chOff x="0" y="0"/>
            <a:chExt cx="10717530" cy="195757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9710928" y="5911596"/>
            <a:ext cx="1234440" cy="1453896"/>
            <a:chOff x="0" y="0"/>
            <a:chExt cx="1645920" cy="193852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07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767060" y="6309360"/>
            <a:ext cx="658368" cy="658368"/>
            <a:chOff x="0" y="0"/>
            <a:chExt cx="877824" cy="87782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10852652" y="6394952"/>
            <a:ext cx="487194" cy="487194"/>
            <a:chOff x="0" y="0"/>
            <a:chExt cx="649592" cy="649592"/>
          </a:xfrm>
        </p:grpSpPr>
        <p:sp>
          <p:nvSpPr>
            <p:cNvPr id="90" name="Freeform 90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1" b="1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11658600" y="5911596"/>
            <a:ext cx="5623560" cy="1453896"/>
            <a:chOff x="0" y="0"/>
            <a:chExt cx="7498080" cy="193852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Demo 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56896" y="7660100"/>
            <a:ext cx="8038147" cy="1468183"/>
            <a:chOff x="0" y="0"/>
            <a:chExt cx="10717530" cy="195757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717530" cy="1957578"/>
            </a:xfrm>
            <a:custGeom>
              <a:avLst/>
              <a:gdLst/>
              <a:ahLst/>
              <a:cxnLst/>
              <a:rect l="l" t="t" r="r" b="b"/>
              <a:pathLst>
                <a:path w="10717530" h="195757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0551287" y="0"/>
                  </a:lnTo>
                  <a:cubicBezTo>
                    <a:pt x="10643108" y="0"/>
                    <a:pt x="10717530" y="74422"/>
                    <a:pt x="10717530" y="166243"/>
                  </a:cubicBezTo>
                  <a:lnTo>
                    <a:pt x="10717530" y="1791335"/>
                  </a:lnTo>
                  <a:cubicBezTo>
                    <a:pt x="10717530" y="1883156"/>
                    <a:pt x="10643108" y="1957578"/>
                    <a:pt x="10551287" y="1957578"/>
                  </a:cubicBezTo>
                  <a:lnTo>
                    <a:pt x="166243" y="1957578"/>
                  </a:lnTo>
                  <a:cubicBezTo>
                    <a:pt x="74422" y="1957578"/>
                    <a:pt x="0" y="1883156"/>
                    <a:pt x="0" y="1791335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9710928" y="7667244"/>
            <a:ext cx="1234440" cy="1453896"/>
            <a:chOff x="0" y="0"/>
            <a:chExt cx="1645920" cy="193852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645920" cy="1938528"/>
            </a:xfrm>
            <a:custGeom>
              <a:avLst/>
              <a:gdLst/>
              <a:ahLst/>
              <a:cxnLst/>
              <a:rect l="l" t="t" r="r" b="b"/>
              <a:pathLst>
                <a:path w="1645920" h="1938528">
                  <a:moveTo>
                    <a:pt x="0" y="0"/>
                  </a:moveTo>
                  <a:lnTo>
                    <a:pt x="1645920" y="0"/>
                  </a:lnTo>
                  <a:lnTo>
                    <a:pt x="164592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113" r="-101113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164592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08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767060" y="8065008"/>
            <a:ext cx="658368" cy="658368"/>
            <a:chOff x="0" y="0"/>
            <a:chExt cx="877824" cy="87782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877824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0852652" y="8150600"/>
            <a:ext cx="487194" cy="487194"/>
            <a:chOff x="0" y="0"/>
            <a:chExt cx="649592" cy="649592"/>
          </a:xfrm>
        </p:grpSpPr>
        <p:sp>
          <p:nvSpPr>
            <p:cNvPr id="102" name="Freeform 102" descr="preencoded.png"/>
            <p:cNvSpPr/>
            <p:nvPr/>
          </p:nvSpPr>
          <p:spPr>
            <a:xfrm>
              <a:off x="0" y="0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5">
                  <a:moveTo>
                    <a:pt x="0" y="0"/>
                  </a:moveTo>
                  <a:lnTo>
                    <a:pt x="649605" y="0"/>
                  </a:lnTo>
                  <a:lnTo>
                    <a:pt x="64960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1" b="1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11658600" y="7667244"/>
            <a:ext cx="5623560" cy="1453896"/>
            <a:chOff x="0" y="0"/>
            <a:chExt cx="7498080" cy="193852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7498080" cy="1938528"/>
            </a:xfrm>
            <a:custGeom>
              <a:avLst/>
              <a:gdLst/>
              <a:ahLst/>
              <a:cxnLst/>
              <a:rect l="l" t="t" r="r" b="b"/>
              <a:pathLst>
                <a:path w="7498080" h="1938528">
                  <a:moveTo>
                    <a:pt x="0" y="0"/>
                  </a:moveTo>
                  <a:lnTo>
                    <a:pt x="7498080" y="0"/>
                  </a:lnTo>
                  <a:lnTo>
                    <a:pt x="7498080" y="1938528"/>
                  </a:lnTo>
                  <a:lnTo>
                    <a:pt x="0" y="1938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66" b="-25366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28575"/>
              <a:ext cx="7498080" cy="196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luận &amp; Hướng phát triển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685800" y="9710928"/>
            <a:ext cx="10972800" cy="411480"/>
            <a:chOff x="0" y="0"/>
            <a:chExt cx="14630400" cy="54864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MỤC LỤC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6230143" y="9710928"/>
            <a:ext cx="1371600" cy="411480"/>
            <a:chOff x="0" y="0"/>
            <a:chExt cx="1828800" cy="54864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 / 15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4380" y="1440180"/>
            <a:ext cx="3463290" cy="466344"/>
            <a:chOff x="0" y="0"/>
            <a:chExt cx="4617720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17720" cy="621792"/>
            </a:xfrm>
            <a:custGeom>
              <a:avLst/>
              <a:gdLst/>
              <a:ahLst/>
              <a:cxnLst/>
              <a:rect l="l" t="t" r="r" b="b"/>
              <a:pathLst>
                <a:path w="4617720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471416" y="0"/>
                  </a:lnTo>
                  <a:cubicBezTo>
                    <a:pt x="4552188" y="0"/>
                    <a:pt x="4617720" y="65532"/>
                    <a:pt x="4617720" y="146304"/>
                  </a:cubicBezTo>
                  <a:lnTo>
                    <a:pt x="4617720" y="475488"/>
                  </a:lnTo>
                  <a:cubicBezTo>
                    <a:pt x="4617720" y="556260"/>
                    <a:pt x="4552188" y="621792"/>
                    <a:pt x="4471416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54380" y="1440180"/>
            <a:ext cx="3463290" cy="466344"/>
            <a:chOff x="0" y="0"/>
            <a:chExt cx="4617720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7720" cy="621792"/>
            </a:xfrm>
            <a:custGeom>
              <a:avLst/>
              <a:gdLst/>
              <a:ahLst/>
              <a:cxnLst/>
              <a:rect l="l" t="t" r="r" b="b"/>
              <a:pathLst>
                <a:path w="4617720" h="621792">
                  <a:moveTo>
                    <a:pt x="0" y="0"/>
                  </a:moveTo>
                  <a:lnTo>
                    <a:pt x="4617720" y="0"/>
                  </a:lnTo>
                  <a:lnTo>
                    <a:pt x="4617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05" b="-9470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46177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 · GIỚI THIỆU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4380" y="1988820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Bài toán phân bổ ngân sách quảng cáo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3401568"/>
            <a:ext cx="10287000" cy="2125980"/>
            <a:chOff x="0" y="0"/>
            <a:chExt cx="13716000" cy="2834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16000" cy="2834640"/>
            </a:xfrm>
            <a:custGeom>
              <a:avLst/>
              <a:gdLst/>
              <a:ahLst/>
              <a:cxnLst/>
              <a:rect l="l" t="t" r="r" b="b"/>
              <a:pathLst>
                <a:path w="13716000" h="2834640">
                  <a:moveTo>
                    <a:pt x="0" y="0"/>
                  </a:moveTo>
                  <a:lnTo>
                    <a:pt x="13716000" y="0"/>
                  </a:lnTo>
                  <a:lnTo>
                    <a:pt x="1371600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282" b="-4428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3716000" cy="2910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Trong quảng cáo trực tuyến (Google Ads, Facebook Ads, hệ thống đấu thầu thời gian thực — Real-time Bidding), nhà quảng cáo luôn đối mặt với một câu hỏi kinh điển: </a:t>
              </a:r>
              <a:r>
                <a:rPr lang="en-US" sz="2199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với một ngân sách (Budget) có hạn, nên chọn chạy những chiến dịch nào để tổng lợi nhuận thu về là lớn nhất?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5815584"/>
            <a:ext cx="178308" cy="178308"/>
            <a:chOff x="0" y="0"/>
            <a:chExt cx="237744" cy="2377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37744" h="237744">
                  <a:moveTo>
                    <a:pt x="0" y="0"/>
                  </a:moveTo>
                  <a:lnTo>
                    <a:pt x="237744" y="237744"/>
                  </a:lnTo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234440" y="5596128"/>
            <a:ext cx="9875520" cy="1028700"/>
            <a:chOff x="0" y="0"/>
            <a:chExt cx="13167360" cy="1371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167361" cy="1371600"/>
            </a:xfrm>
            <a:custGeom>
              <a:avLst/>
              <a:gdLst/>
              <a:ahLst/>
              <a:cxnLst/>
              <a:rect l="l" t="t" r="r" b="b"/>
              <a:pathLst>
                <a:path w="13167361" h="1371600">
                  <a:moveTo>
                    <a:pt x="0" y="0"/>
                  </a:moveTo>
                  <a:lnTo>
                    <a:pt x="13167361" y="0"/>
                  </a:lnTo>
                  <a:lnTo>
                    <a:pt x="131673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3167360" cy="1428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Mỗi chiến dịch quảng cáo có một chi phí chạy (Cost) và một lợi nhuận kỳ vọng (Profit) khác nhau.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2960" y="6885432"/>
            <a:ext cx="178308" cy="178308"/>
            <a:chOff x="0" y="0"/>
            <a:chExt cx="237744" cy="2377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37744" h="237744">
                  <a:moveTo>
                    <a:pt x="0" y="0"/>
                  </a:moveTo>
                  <a:lnTo>
                    <a:pt x="237744" y="237744"/>
                  </a:lnTo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234440" y="6665976"/>
            <a:ext cx="9875520" cy="1028700"/>
            <a:chOff x="0" y="0"/>
            <a:chExt cx="13167360" cy="1371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167361" cy="1371600"/>
            </a:xfrm>
            <a:custGeom>
              <a:avLst/>
              <a:gdLst/>
              <a:ahLst/>
              <a:cxnLst/>
              <a:rect l="l" t="t" r="r" b="b"/>
              <a:pathLst>
                <a:path w="13167361" h="1371600">
                  <a:moveTo>
                    <a:pt x="0" y="0"/>
                  </a:moveTo>
                  <a:lnTo>
                    <a:pt x="13167361" y="0"/>
                  </a:lnTo>
                  <a:lnTo>
                    <a:pt x="131673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3167360" cy="1428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Ngân sách công ty luôn bị giới hạn — không thể chạy toàn bộ chiến dịch cùng lúc.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2960" y="7955280"/>
            <a:ext cx="178308" cy="178308"/>
            <a:chOff x="0" y="0"/>
            <a:chExt cx="237744" cy="2377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37744" h="237744">
                  <a:moveTo>
                    <a:pt x="0" y="0"/>
                  </a:moveTo>
                  <a:lnTo>
                    <a:pt x="237744" y="237744"/>
                  </a:lnTo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34440" y="7735824"/>
            <a:ext cx="9875520" cy="1028700"/>
            <a:chOff x="0" y="0"/>
            <a:chExt cx="13167360" cy="1371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167361" cy="1371600"/>
            </a:xfrm>
            <a:custGeom>
              <a:avLst/>
              <a:gdLst/>
              <a:ahLst/>
              <a:cxnLst/>
              <a:rect l="l" t="t" r="r" b="b"/>
              <a:pathLst>
                <a:path w="13167361" h="1371600">
                  <a:moveTo>
                    <a:pt x="0" y="0"/>
                  </a:moveTo>
                  <a:lnTo>
                    <a:pt x="13167361" y="0"/>
                  </a:lnTo>
                  <a:lnTo>
                    <a:pt x="131673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13167360" cy="1428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Mỗi chiến dịch chỉ có thể chọn chạy trọn vẹn hoặc không chạy (không chia nhỏ) → đây chính là mô hình bài toán Cái túi 0/1 (0/1 Knapsack).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795760" y="3264408"/>
            <a:ext cx="5760720" cy="7008876"/>
            <a:chOff x="0" y="0"/>
            <a:chExt cx="7680960" cy="93451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680960" cy="9345168"/>
            </a:xfrm>
            <a:custGeom>
              <a:avLst/>
              <a:gdLst/>
              <a:ahLst/>
              <a:cxnLst/>
              <a:rect l="l" t="t" r="r" b="b"/>
              <a:pathLst>
                <a:path w="7680960" h="934516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498080" y="0"/>
                  </a:lnTo>
                  <a:cubicBezTo>
                    <a:pt x="7599045" y="0"/>
                    <a:pt x="7680960" y="81915"/>
                    <a:pt x="7680960" y="182880"/>
                  </a:cubicBezTo>
                  <a:lnTo>
                    <a:pt x="7680960" y="9162288"/>
                  </a:lnTo>
                  <a:cubicBezTo>
                    <a:pt x="7680960" y="9263253"/>
                    <a:pt x="7599045" y="9345168"/>
                    <a:pt x="7498080" y="9345168"/>
                  </a:cubicBezTo>
                  <a:lnTo>
                    <a:pt x="182880" y="9345168"/>
                  </a:lnTo>
                  <a:cubicBezTo>
                    <a:pt x="81915" y="9345168"/>
                    <a:pt x="0" y="9263253"/>
                    <a:pt x="0" y="9162288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2138660" y="3538728"/>
            <a:ext cx="5074920" cy="480060"/>
            <a:chOff x="0" y="0"/>
            <a:chExt cx="6766560" cy="6400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66560" cy="640080"/>
            </a:xfrm>
            <a:custGeom>
              <a:avLst/>
              <a:gdLst/>
              <a:ahLst/>
              <a:cxnLst/>
              <a:rect l="l" t="t" r="r" b="b"/>
              <a:pathLst>
                <a:path w="6766560" h="640080">
                  <a:moveTo>
                    <a:pt x="0" y="0"/>
                  </a:moveTo>
                  <a:lnTo>
                    <a:pt x="6766560" y="0"/>
                  </a:lnTo>
                  <a:lnTo>
                    <a:pt x="6766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676656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NHIỀU CHIẾN DỊCH QUẢNG CÁO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38660" y="4155948"/>
            <a:ext cx="5074920" cy="713232"/>
            <a:chOff x="0" y="0"/>
            <a:chExt cx="6766560" cy="9509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66560" cy="950976"/>
            </a:xfrm>
            <a:custGeom>
              <a:avLst/>
              <a:gdLst/>
              <a:ahLst/>
              <a:cxnLst/>
              <a:rect l="l" t="t" r="r" b="b"/>
              <a:pathLst>
                <a:path w="676656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656832" y="0"/>
                  </a:lnTo>
                  <a:cubicBezTo>
                    <a:pt x="6717411" y="0"/>
                    <a:pt x="6766560" y="49149"/>
                    <a:pt x="6766560" y="109728"/>
                  </a:cubicBezTo>
                  <a:lnTo>
                    <a:pt x="6766560" y="841248"/>
                  </a:lnTo>
                  <a:cubicBezTo>
                    <a:pt x="6766560" y="901827"/>
                    <a:pt x="6717411" y="950976"/>
                    <a:pt x="665683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344400" y="4155948"/>
            <a:ext cx="822960" cy="713232"/>
            <a:chOff x="0" y="0"/>
            <a:chExt cx="1097280" cy="9509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97280" cy="950976"/>
            </a:xfrm>
            <a:custGeom>
              <a:avLst/>
              <a:gdLst/>
              <a:ahLst/>
              <a:cxnLst/>
              <a:rect l="l" t="t" r="r" b="b"/>
              <a:pathLst>
                <a:path w="1097280" h="950976">
                  <a:moveTo>
                    <a:pt x="0" y="0"/>
                  </a:moveTo>
                  <a:lnTo>
                    <a:pt x="1097280" y="0"/>
                  </a:lnTo>
                  <a:lnTo>
                    <a:pt x="10972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96" r="-6119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109728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QC1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167360" y="4155948"/>
            <a:ext cx="3977640" cy="713232"/>
            <a:chOff x="0" y="0"/>
            <a:chExt cx="5303520" cy="95097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03520" cy="950976"/>
            </a:xfrm>
            <a:custGeom>
              <a:avLst/>
              <a:gdLst/>
              <a:ahLst/>
              <a:cxnLst/>
              <a:rect l="l" t="t" r="r" b="b"/>
              <a:pathLst>
                <a:path w="5303520" h="950976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666" b="-58666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530352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15  ·  Profit 30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138660" y="5033772"/>
            <a:ext cx="5074920" cy="713232"/>
            <a:chOff x="0" y="0"/>
            <a:chExt cx="6766560" cy="95097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766560" cy="950976"/>
            </a:xfrm>
            <a:custGeom>
              <a:avLst/>
              <a:gdLst/>
              <a:ahLst/>
              <a:cxnLst/>
              <a:rect l="l" t="t" r="r" b="b"/>
              <a:pathLst>
                <a:path w="676656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656832" y="0"/>
                  </a:lnTo>
                  <a:cubicBezTo>
                    <a:pt x="6717411" y="0"/>
                    <a:pt x="6766560" y="49149"/>
                    <a:pt x="6766560" y="109728"/>
                  </a:cubicBezTo>
                  <a:lnTo>
                    <a:pt x="6766560" y="841248"/>
                  </a:lnTo>
                  <a:cubicBezTo>
                    <a:pt x="6766560" y="901827"/>
                    <a:pt x="6717411" y="950976"/>
                    <a:pt x="665683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2344400" y="5033772"/>
            <a:ext cx="822960" cy="713232"/>
            <a:chOff x="0" y="0"/>
            <a:chExt cx="1097280" cy="95097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97280" cy="950976"/>
            </a:xfrm>
            <a:custGeom>
              <a:avLst/>
              <a:gdLst/>
              <a:ahLst/>
              <a:cxnLst/>
              <a:rect l="l" t="t" r="r" b="b"/>
              <a:pathLst>
                <a:path w="1097280" h="950976">
                  <a:moveTo>
                    <a:pt x="0" y="0"/>
                  </a:moveTo>
                  <a:lnTo>
                    <a:pt x="1097280" y="0"/>
                  </a:lnTo>
                  <a:lnTo>
                    <a:pt x="10972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96" r="-6119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109728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167360" y="5033772"/>
            <a:ext cx="3977640" cy="713232"/>
            <a:chOff x="0" y="0"/>
            <a:chExt cx="5303520" cy="95097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303520" cy="950976"/>
            </a:xfrm>
            <a:custGeom>
              <a:avLst/>
              <a:gdLst/>
              <a:ahLst/>
              <a:cxnLst/>
              <a:rect l="l" t="t" r="r" b="b"/>
              <a:pathLst>
                <a:path w="5303520" h="950976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666" b="-5866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530352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20  ·  Profit 50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138660" y="5911596"/>
            <a:ext cx="5074920" cy="713232"/>
            <a:chOff x="0" y="0"/>
            <a:chExt cx="6766560" cy="95097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766560" cy="950976"/>
            </a:xfrm>
            <a:custGeom>
              <a:avLst/>
              <a:gdLst/>
              <a:ahLst/>
              <a:cxnLst/>
              <a:rect l="l" t="t" r="r" b="b"/>
              <a:pathLst>
                <a:path w="676656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656832" y="0"/>
                  </a:lnTo>
                  <a:cubicBezTo>
                    <a:pt x="6717411" y="0"/>
                    <a:pt x="6766560" y="49149"/>
                    <a:pt x="6766560" y="109728"/>
                  </a:cubicBezTo>
                  <a:lnTo>
                    <a:pt x="6766560" y="841248"/>
                  </a:lnTo>
                  <a:cubicBezTo>
                    <a:pt x="6766560" y="901827"/>
                    <a:pt x="6717411" y="950976"/>
                    <a:pt x="665683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2344400" y="5911596"/>
            <a:ext cx="822960" cy="713232"/>
            <a:chOff x="0" y="0"/>
            <a:chExt cx="1097280" cy="95097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7280" cy="950976"/>
            </a:xfrm>
            <a:custGeom>
              <a:avLst/>
              <a:gdLst/>
              <a:ahLst/>
              <a:cxnLst/>
              <a:rect l="l" t="t" r="r" b="b"/>
              <a:pathLst>
                <a:path w="1097280" h="950976">
                  <a:moveTo>
                    <a:pt x="0" y="0"/>
                  </a:moveTo>
                  <a:lnTo>
                    <a:pt x="1097280" y="0"/>
                  </a:lnTo>
                  <a:lnTo>
                    <a:pt x="10972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96" r="-6119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09728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QC3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167360" y="5911596"/>
            <a:ext cx="3977640" cy="713232"/>
            <a:chOff x="0" y="0"/>
            <a:chExt cx="5303520" cy="95097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303520" cy="950976"/>
            </a:xfrm>
            <a:custGeom>
              <a:avLst/>
              <a:gdLst/>
              <a:ahLst/>
              <a:cxnLst/>
              <a:rect l="l" t="t" r="r" b="b"/>
              <a:pathLst>
                <a:path w="5303520" h="950976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666" b="-58666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530352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10  ·  Profit 15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374368" y="6830568"/>
            <a:ext cx="603504" cy="603504"/>
            <a:chOff x="0" y="0"/>
            <a:chExt cx="804672" cy="80467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0"/>
                  </a:moveTo>
                  <a:lnTo>
                    <a:pt x="804672" y="804672"/>
                  </a:lnTo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4452825" y="6909025"/>
            <a:ext cx="446589" cy="446589"/>
            <a:chOff x="0" y="0"/>
            <a:chExt cx="595452" cy="595452"/>
          </a:xfrm>
        </p:grpSpPr>
        <p:sp>
          <p:nvSpPr>
            <p:cNvPr id="63" name="Freeform 63" descr="preencoded.png"/>
            <p:cNvSpPr/>
            <p:nvPr/>
          </p:nvSpPr>
          <p:spPr>
            <a:xfrm>
              <a:off x="0" y="0"/>
              <a:ext cx="595503" cy="595503"/>
            </a:xfrm>
            <a:custGeom>
              <a:avLst/>
              <a:gdLst/>
              <a:ahLst/>
              <a:cxnLst/>
              <a:rect l="l" t="t" r="r" b="b"/>
              <a:pathLst>
                <a:path w="595503" h="595503">
                  <a:moveTo>
                    <a:pt x="0" y="0"/>
                  </a:moveTo>
                  <a:lnTo>
                    <a:pt x="595503" y="0"/>
                  </a:lnTo>
                  <a:lnTo>
                    <a:pt x="595503" y="595503"/>
                  </a:lnTo>
                  <a:lnTo>
                    <a:pt x="0" y="59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2138660" y="7639812"/>
            <a:ext cx="5074920" cy="850392"/>
            <a:chOff x="0" y="0"/>
            <a:chExt cx="6766560" cy="11338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766560" cy="1133856"/>
            </a:xfrm>
            <a:custGeom>
              <a:avLst/>
              <a:gdLst/>
              <a:ahLst/>
              <a:cxnLst/>
              <a:rect l="l" t="t" r="r" b="b"/>
              <a:pathLst>
                <a:path w="6766560" h="11338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656832" y="0"/>
                  </a:lnTo>
                  <a:cubicBezTo>
                    <a:pt x="6717411" y="0"/>
                    <a:pt x="6766560" y="49149"/>
                    <a:pt x="6766560" y="109728"/>
                  </a:cubicBezTo>
                  <a:lnTo>
                    <a:pt x="6766560" y="1024128"/>
                  </a:lnTo>
                  <a:cubicBezTo>
                    <a:pt x="6766560" y="1084707"/>
                    <a:pt x="6717411" y="1133856"/>
                    <a:pt x="665683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2138660" y="7639812"/>
            <a:ext cx="5074920" cy="850392"/>
            <a:chOff x="0" y="0"/>
            <a:chExt cx="6766560" cy="113385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766560" cy="1133856"/>
            </a:xfrm>
            <a:custGeom>
              <a:avLst/>
              <a:gdLst/>
              <a:ahLst/>
              <a:cxnLst/>
              <a:rect l="l" t="t" r="r" b="b"/>
              <a:pathLst>
                <a:path w="6766560" h="1133856">
                  <a:moveTo>
                    <a:pt x="0" y="0"/>
                  </a:moveTo>
                  <a:lnTo>
                    <a:pt x="6766560" y="0"/>
                  </a:lnTo>
                  <a:lnTo>
                    <a:pt x="67665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281" b="-6628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6766560" cy="1152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NGÂN SÁCH GIỚI HẠN: 30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138660" y="8805672"/>
            <a:ext cx="5074920" cy="411480"/>
            <a:chOff x="0" y="0"/>
            <a:chExt cx="676656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766560" cy="548640"/>
            </a:xfrm>
            <a:custGeom>
              <a:avLst/>
              <a:gdLst/>
              <a:ahLst/>
              <a:cxnLst/>
              <a:rect l="l" t="t" r="r" b="b"/>
              <a:pathLst>
                <a:path w="6766560" h="54864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315" b="-19031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676656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150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MỤC TIÊU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138660" y="9244584"/>
            <a:ext cx="5074920" cy="1028700"/>
            <a:chOff x="0" y="0"/>
            <a:chExt cx="6766560" cy="13716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766560" cy="1371600"/>
            </a:xfrm>
            <a:custGeom>
              <a:avLst/>
              <a:gdLst/>
              <a:ahLst/>
              <a:cxnLst/>
              <a:rect l="l" t="t" r="r" b="b"/>
              <a:pathLst>
                <a:path w="6766560" h="1371600">
                  <a:moveTo>
                    <a:pt x="0" y="0"/>
                  </a:moveTo>
                  <a:lnTo>
                    <a:pt x="6766560" y="0"/>
                  </a:lnTo>
                  <a:lnTo>
                    <a:pt x="67665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26" b="-46126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676656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F0F7F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Chọn tập chiến dịch có tổng lợi nhuận tối đa mà không vượt ngân sách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2826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55013" y="1547870"/>
            <a:ext cx="3463290" cy="466344"/>
            <a:chOff x="0" y="0"/>
            <a:chExt cx="4617720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17720" cy="621792"/>
            </a:xfrm>
            <a:custGeom>
              <a:avLst/>
              <a:gdLst/>
              <a:ahLst/>
              <a:cxnLst/>
              <a:rect l="l" t="t" r="r" b="b"/>
              <a:pathLst>
                <a:path w="4617720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471416" y="0"/>
                  </a:lnTo>
                  <a:cubicBezTo>
                    <a:pt x="4552188" y="0"/>
                    <a:pt x="4617720" y="65532"/>
                    <a:pt x="4617720" y="146304"/>
                  </a:cubicBezTo>
                  <a:lnTo>
                    <a:pt x="4617720" y="475488"/>
                  </a:lnTo>
                  <a:cubicBezTo>
                    <a:pt x="4617720" y="556260"/>
                    <a:pt x="4552188" y="621792"/>
                    <a:pt x="4471416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55013" y="1547870"/>
            <a:ext cx="3463290" cy="466344"/>
            <a:chOff x="0" y="0"/>
            <a:chExt cx="4617720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7720" cy="621792"/>
            </a:xfrm>
            <a:custGeom>
              <a:avLst/>
              <a:gdLst/>
              <a:ahLst/>
              <a:cxnLst/>
              <a:rect l="l" t="t" r="r" b="b"/>
              <a:pathLst>
                <a:path w="4617720" h="621792">
                  <a:moveTo>
                    <a:pt x="0" y="0"/>
                  </a:moveTo>
                  <a:lnTo>
                    <a:pt x="4617720" y="0"/>
                  </a:lnTo>
                  <a:lnTo>
                    <a:pt x="4617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05" b="-9470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46177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 · ĐẶT VẤN ĐỀ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5013" y="2096510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Mô hình hóa bài toán quảng cáo thành Knapsack 0/1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3593" y="3128953"/>
            <a:ext cx="16733520" cy="754380"/>
            <a:chOff x="0" y="0"/>
            <a:chExt cx="2231136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11361" cy="1005840"/>
            </a:xfrm>
            <a:custGeom>
              <a:avLst/>
              <a:gdLst/>
              <a:ahLst/>
              <a:cxnLst/>
              <a:rect l="l" t="t" r="r" b="b"/>
              <a:pathLst>
                <a:path w="22311361" h="1005840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213" b="-38221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231136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Để giải quyết bằng thuật toán, bài toán chọn chiến dịch quảng cáo được quy đổi trực tiếp sang mô hình toán học kinh điển của bài toán Cái túi 0/1: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3593" y="3893306"/>
            <a:ext cx="4869180" cy="438912"/>
            <a:chOff x="0" y="0"/>
            <a:chExt cx="6492240" cy="5852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92240" cy="585216"/>
            </a:xfrm>
            <a:custGeom>
              <a:avLst/>
              <a:gdLst/>
              <a:ahLst/>
              <a:cxnLst/>
              <a:rect l="l" t="t" r="r" b="b"/>
              <a:pathLst>
                <a:path w="6492240" h="585216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162" b="-16616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4922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THUẬT NGỮ QUẢNG CÁO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27213" y="3893306"/>
            <a:ext cx="4869180" cy="438912"/>
            <a:chOff x="0" y="0"/>
            <a:chExt cx="6492240" cy="5852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92240" cy="585216"/>
            </a:xfrm>
            <a:custGeom>
              <a:avLst/>
              <a:gdLst/>
              <a:ahLst/>
              <a:cxnLst/>
              <a:rect l="l" t="t" r="r" b="b"/>
              <a:pathLst>
                <a:path w="6492240" h="585216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162" b="-16616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4922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THUẬT NGỮ KNAPSACK 0/1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23593" y="4469378"/>
            <a:ext cx="4869180" cy="932688"/>
            <a:chOff x="0" y="0"/>
            <a:chExt cx="6492240" cy="12435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570481" y="4469378"/>
            <a:ext cx="4389120" cy="932688"/>
            <a:chOff x="0" y="0"/>
            <a:chExt cx="5852160" cy="12435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8A5A1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Chiến dịch quảng cáo (Ad)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76821" y="4675118"/>
            <a:ext cx="521208" cy="521208"/>
            <a:chOff x="0" y="0"/>
            <a:chExt cx="694944" cy="6949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694944"/>
                  </a:lnTo>
                </a:path>
              </a:pathLst>
            </a:custGeom>
            <a:solidFill>
              <a:srgbClr val="5B7B8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5644582" y="4742878"/>
            <a:ext cx="385696" cy="385696"/>
            <a:chOff x="0" y="0"/>
            <a:chExt cx="514261" cy="514261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514223" cy="514223"/>
            </a:xfrm>
            <a:custGeom>
              <a:avLst/>
              <a:gdLst/>
              <a:ahLst/>
              <a:cxnLst/>
              <a:rect l="l" t="t" r="r" b="b"/>
              <a:pathLst>
                <a:path w="514223" h="514223">
                  <a:moveTo>
                    <a:pt x="0" y="0"/>
                  </a:moveTo>
                  <a:lnTo>
                    <a:pt x="514223" y="0"/>
                  </a:lnTo>
                  <a:lnTo>
                    <a:pt x="514223" y="514223"/>
                  </a:lnTo>
                  <a:lnTo>
                    <a:pt x="0" y="514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6427213" y="4469378"/>
            <a:ext cx="4869180" cy="932688"/>
            <a:chOff x="0" y="0"/>
            <a:chExt cx="6492240" cy="124358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674101" y="4469378"/>
            <a:ext cx="4389120" cy="932688"/>
            <a:chOff x="0" y="0"/>
            <a:chExt cx="5852160" cy="1243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Món đồ (Item)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23593" y="5539226"/>
            <a:ext cx="4869180" cy="932688"/>
            <a:chOff x="0" y="0"/>
            <a:chExt cx="6492240" cy="1243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570481" y="5539226"/>
            <a:ext cx="4389120" cy="932688"/>
            <a:chOff x="0" y="0"/>
            <a:chExt cx="5852160" cy="124358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8A5A1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Chi phí chạy quảng cáo (Cost)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76821" y="5744966"/>
            <a:ext cx="521208" cy="521208"/>
            <a:chOff x="0" y="0"/>
            <a:chExt cx="694944" cy="6949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694944"/>
                  </a:lnTo>
                </a:path>
              </a:pathLst>
            </a:custGeom>
            <a:solidFill>
              <a:srgbClr val="5B7B80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5644582" y="5812726"/>
            <a:ext cx="385696" cy="385696"/>
            <a:chOff x="0" y="0"/>
            <a:chExt cx="514261" cy="514261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514223" cy="514223"/>
            </a:xfrm>
            <a:custGeom>
              <a:avLst/>
              <a:gdLst/>
              <a:ahLst/>
              <a:cxnLst/>
              <a:rect l="l" t="t" r="r" b="b"/>
              <a:pathLst>
                <a:path w="514223" h="514223">
                  <a:moveTo>
                    <a:pt x="0" y="0"/>
                  </a:moveTo>
                  <a:lnTo>
                    <a:pt x="514223" y="0"/>
                  </a:lnTo>
                  <a:lnTo>
                    <a:pt x="514223" y="514223"/>
                  </a:lnTo>
                  <a:lnTo>
                    <a:pt x="0" y="514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6427213" y="5539226"/>
            <a:ext cx="4869180" cy="932688"/>
            <a:chOff x="0" y="0"/>
            <a:chExt cx="6492240" cy="1243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6674101" y="5539226"/>
            <a:ext cx="4389120" cy="932688"/>
            <a:chOff x="0" y="0"/>
            <a:chExt cx="5852160" cy="124358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Trọng lượng (Weight, w)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23593" y="6609074"/>
            <a:ext cx="4869180" cy="932688"/>
            <a:chOff x="0" y="0"/>
            <a:chExt cx="6492240" cy="124358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570481" y="6609074"/>
            <a:ext cx="4389120" cy="932688"/>
            <a:chOff x="0" y="0"/>
            <a:chExt cx="5852160" cy="124358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8A5A1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Lợi nhuận kỳ vọng (Profit)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576821" y="6814814"/>
            <a:ext cx="521208" cy="521208"/>
            <a:chOff x="0" y="0"/>
            <a:chExt cx="694944" cy="69494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694944"/>
                  </a:lnTo>
                </a:path>
              </a:pathLst>
            </a:custGeom>
            <a:solidFill>
              <a:srgbClr val="5B7B80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5644582" y="6882575"/>
            <a:ext cx="385696" cy="385696"/>
            <a:chOff x="0" y="0"/>
            <a:chExt cx="514261" cy="514261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514223" cy="514223"/>
            </a:xfrm>
            <a:custGeom>
              <a:avLst/>
              <a:gdLst/>
              <a:ahLst/>
              <a:cxnLst/>
              <a:rect l="l" t="t" r="r" b="b"/>
              <a:pathLst>
                <a:path w="514223" h="514223">
                  <a:moveTo>
                    <a:pt x="0" y="0"/>
                  </a:moveTo>
                  <a:lnTo>
                    <a:pt x="514223" y="0"/>
                  </a:lnTo>
                  <a:lnTo>
                    <a:pt x="514223" y="514223"/>
                  </a:lnTo>
                  <a:lnTo>
                    <a:pt x="0" y="514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6427213" y="6609074"/>
            <a:ext cx="4869180" cy="932688"/>
            <a:chOff x="0" y="0"/>
            <a:chExt cx="6492240" cy="124358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674101" y="6609074"/>
            <a:ext cx="4389120" cy="932688"/>
            <a:chOff x="0" y="0"/>
            <a:chExt cx="5852160" cy="124358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Giá trị (Value, v)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23593" y="7678922"/>
            <a:ext cx="4869180" cy="932688"/>
            <a:chOff x="0" y="0"/>
            <a:chExt cx="6492240" cy="124358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570481" y="7678922"/>
            <a:ext cx="4389120" cy="932688"/>
            <a:chOff x="0" y="0"/>
            <a:chExt cx="5852160" cy="124358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8A5A1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Ngân sách công ty (Budget)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576821" y="7884662"/>
            <a:ext cx="521208" cy="521208"/>
            <a:chOff x="0" y="0"/>
            <a:chExt cx="694944" cy="69494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694944"/>
                  </a:lnTo>
                </a:path>
              </a:pathLst>
            </a:custGeom>
            <a:solidFill>
              <a:srgbClr val="5B7B8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644582" y="7952422"/>
            <a:ext cx="385696" cy="385696"/>
            <a:chOff x="0" y="0"/>
            <a:chExt cx="514261" cy="514261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514223" cy="514223"/>
            </a:xfrm>
            <a:custGeom>
              <a:avLst/>
              <a:gdLst/>
              <a:ahLst/>
              <a:cxnLst/>
              <a:rect l="l" t="t" r="r" b="b"/>
              <a:pathLst>
                <a:path w="514223" h="514223">
                  <a:moveTo>
                    <a:pt x="0" y="0"/>
                  </a:moveTo>
                  <a:lnTo>
                    <a:pt x="514223" y="0"/>
                  </a:lnTo>
                  <a:lnTo>
                    <a:pt x="514223" y="514223"/>
                  </a:lnTo>
                  <a:lnTo>
                    <a:pt x="0" y="514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6427213" y="7678922"/>
            <a:ext cx="4869180" cy="932688"/>
            <a:chOff x="0" y="0"/>
            <a:chExt cx="6492240" cy="124358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492240" cy="1243584"/>
            </a:xfrm>
            <a:custGeom>
              <a:avLst/>
              <a:gdLst/>
              <a:ahLst/>
              <a:cxnLst/>
              <a:rect l="l" t="t" r="r" b="b"/>
              <a:pathLst>
                <a:path w="6492240" h="124358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364224" y="0"/>
                  </a:lnTo>
                  <a:cubicBezTo>
                    <a:pt x="6434963" y="0"/>
                    <a:pt x="6492240" y="57277"/>
                    <a:pt x="6492240" y="128016"/>
                  </a:cubicBezTo>
                  <a:lnTo>
                    <a:pt x="6492240" y="1115568"/>
                  </a:lnTo>
                  <a:cubicBezTo>
                    <a:pt x="6492240" y="1186307"/>
                    <a:pt x="6434963" y="1243584"/>
                    <a:pt x="6364224" y="1243584"/>
                  </a:cubicBezTo>
                  <a:lnTo>
                    <a:pt x="128016" y="1243584"/>
                  </a:lnTo>
                  <a:cubicBezTo>
                    <a:pt x="57277" y="1243584"/>
                    <a:pt x="0" y="1186307"/>
                    <a:pt x="0" y="111556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6674101" y="7678922"/>
            <a:ext cx="4389120" cy="932688"/>
            <a:chOff x="0" y="0"/>
            <a:chExt cx="5852160" cy="124358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852160" cy="1243584"/>
            </a:xfrm>
            <a:custGeom>
              <a:avLst/>
              <a:gdLst/>
              <a:ahLst/>
              <a:cxnLst/>
              <a:rect l="l" t="t" r="r" b="b"/>
              <a:pathLst>
                <a:path w="5852160" h="1243584">
                  <a:moveTo>
                    <a:pt x="0" y="0"/>
                  </a:moveTo>
                  <a:lnTo>
                    <a:pt x="5852160" y="0"/>
                  </a:lnTo>
                  <a:lnTo>
                    <a:pt x="58521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5852160" cy="126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Sức chứa túi (Capacity, W)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1982193" y="4469378"/>
            <a:ext cx="5143500" cy="4869180"/>
            <a:chOff x="0" y="0"/>
            <a:chExt cx="6858000" cy="64922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858000" cy="6492240"/>
            </a:xfrm>
            <a:custGeom>
              <a:avLst/>
              <a:gdLst/>
              <a:ahLst/>
              <a:cxnLst/>
              <a:rect l="l" t="t" r="r" b="b"/>
              <a:pathLst>
                <a:path w="6858000" h="6492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6309360"/>
                  </a:lnTo>
                  <a:cubicBezTo>
                    <a:pt x="6858000" y="6410325"/>
                    <a:pt x="6776085" y="6492240"/>
                    <a:pt x="667512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12325093" y="4784846"/>
            <a:ext cx="4457700" cy="438912"/>
            <a:chOff x="0" y="0"/>
            <a:chExt cx="5943600" cy="58521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943600" cy="585216"/>
            </a:xfrm>
            <a:custGeom>
              <a:avLst/>
              <a:gdLst/>
              <a:ahLst/>
              <a:cxnLst/>
              <a:rect l="l" t="t" r="r" b="b"/>
              <a:pathLst>
                <a:path w="5943600" h="585216">
                  <a:moveTo>
                    <a:pt x="0" y="0"/>
                  </a:moveTo>
                  <a:lnTo>
                    <a:pt x="5943600" y="0"/>
                  </a:lnTo>
                  <a:lnTo>
                    <a:pt x="594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894" b="-147894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594360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PHÁT BIỂU HÌNH THỨC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325093" y="5360918"/>
            <a:ext cx="4457700" cy="1234440"/>
            <a:chOff x="0" y="0"/>
            <a:chExt cx="5943600" cy="164592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943600" cy="1645920"/>
            </a:xfrm>
            <a:custGeom>
              <a:avLst/>
              <a:gdLst/>
              <a:ahLst/>
              <a:cxnLst/>
              <a:rect l="l" t="t" r="r" b="b"/>
              <a:pathLst>
                <a:path w="5943600" h="1645920">
                  <a:moveTo>
                    <a:pt x="0" y="0"/>
                  </a:moveTo>
                  <a:lnTo>
                    <a:pt x="5943600" y="0"/>
                  </a:lnTo>
                  <a:lnTo>
                    <a:pt x="5943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62" b="-20362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95250"/>
              <a:ext cx="5943600" cy="1741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10"/>
                </a:lnSpc>
              </a:pPr>
              <a:r>
                <a:rPr lang="en-US" sz="2250" b="1">
                  <a:solidFill>
                    <a:srgbClr val="BFDAD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Cực đại hóa: </a:t>
              </a:r>
              <a:r>
                <a:rPr lang="en-US" sz="2250" i="1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Σ profiti · xi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325093" y="6663938"/>
            <a:ext cx="4457700" cy="1920793"/>
            <a:chOff x="0" y="0"/>
            <a:chExt cx="5943600" cy="256105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943600" cy="2561057"/>
            </a:xfrm>
            <a:custGeom>
              <a:avLst/>
              <a:gdLst/>
              <a:ahLst/>
              <a:cxnLst/>
              <a:rect l="l" t="t" r="r" b="b"/>
              <a:pathLst>
                <a:path w="5943600" h="2561057">
                  <a:moveTo>
                    <a:pt x="0" y="0"/>
                  </a:moveTo>
                  <a:lnTo>
                    <a:pt x="5943600" y="0"/>
                  </a:lnTo>
                  <a:lnTo>
                    <a:pt x="5943600" y="2561057"/>
                  </a:lnTo>
                  <a:lnTo>
                    <a:pt x="0" y="25610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86" b="2264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95250"/>
              <a:ext cx="5943600" cy="2656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10"/>
                </a:lnSpc>
              </a:pPr>
              <a:r>
                <a:rPr lang="en-US" sz="2250" b="1">
                  <a:solidFill>
                    <a:srgbClr val="BFDAD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Với điều kiện:</a:t>
              </a:r>
            </a:p>
            <a:p>
              <a:pPr algn="l">
                <a:lnSpc>
                  <a:spcPts val="3510"/>
                </a:lnSpc>
              </a:pPr>
              <a:endParaRPr lang="en-US" sz="2250" b="1">
                <a:solidFill>
                  <a:srgbClr val="BFDAD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3510"/>
                </a:lnSpc>
              </a:pPr>
              <a:r>
                <a:rPr lang="en-US" sz="2250" i="1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Σ costi · xi ≤ Budget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325093" y="8035538"/>
            <a:ext cx="4457700" cy="822960"/>
            <a:chOff x="0" y="0"/>
            <a:chExt cx="5943600" cy="109728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943600" cy="1097280"/>
            </a:xfrm>
            <a:custGeom>
              <a:avLst/>
              <a:gdLst/>
              <a:ahLst/>
              <a:cxnLst/>
              <a:rect l="l" t="t" r="r" b="b"/>
              <a:pathLst>
                <a:path w="5943600" h="109728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66675"/>
              <a:ext cx="594360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950" i="1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xi</a:t>
              </a: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∈ {0, 1}   (chọn hoặc không chọn)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92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23287" y="1323594"/>
            <a:ext cx="3463290" cy="466344"/>
            <a:chOff x="0" y="0"/>
            <a:chExt cx="4617720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17720" cy="621792"/>
            </a:xfrm>
            <a:custGeom>
              <a:avLst/>
              <a:gdLst/>
              <a:ahLst/>
              <a:cxnLst/>
              <a:rect l="l" t="t" r="r" b="b"/>
              <a:pathLst>
                <a:path w="4617720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471416" y="0"/>
                  </a:lnTo>
                  <a:cubicBezTo>
                    <a:pt x="4552188" y="0"/>
                    <a:pt x="4617720" y="65532"/>
                    <a:pt x="4617720" y="146304"/>
                  </a:cubicBezTo>
                  <a:lnTo>
                    <a:pt x="4617720" y="475488"/>
                  </a:lnTo>
                  <a:cubicBezTo>
                    <a:pt x="4617720" y="556260"/>
                    <a:pt x="4552188" y="621792"/>
                    <a:pt x="4471416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23287" y="1323594"/>
            <a:ext cx="3463290" cy="466344"/>
            <a:chOff x="0" y="0"/>
            <a:chExt cx="4617720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7720" cy="621792"/>
            </a:xfrm>
            <a:custGeom>
              <a:avLst/>
              <a:gdLst/>
              <a:ahLst/>
              <a:cxnLst/>
              <a:rect l="l" t="t" r="r" b="b"/>
              <a:pathLst>
                <a:path w="4617720" h="621792">
                  <a:moveTo>
                    <a:pt x="0" y="0"/>
                  </a:moveTo>
                  <a:lnTo>
                    <a:pt x="4617720" y="0"/>
                  </a:lnTo>
                  <a:lnTo>
                    <a:pt x="4617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05" b="-9470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46177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 · ĐẶT VẤN ĐỀ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3287" y="1872234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Vì sao không nên chọn Vét cạn (Brute Force)?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1867" y="3216402"/>
            <a:ext cx="8452133" cy="2331720"/>
            <a:chOff x="0" y="0"/>
            <a:chExt cx="11269510" cy="31089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69511" cy="3108960"/>
            </a:xfrm>
            <a:custGeom>
              <a:avLst/>
              <a:gdLst/>
              <a:ahLst/>
              <a:cxnLst/>
              <a:rect l="l" t="t" r="r" b="b"/>
              <a:pathLst>
                <a:path w="11269511" h="3108960">
                  <a:moveTo>
                    <a:pt x="0" y="0"/>
                  </a:moveTo>
                  <a:lnTo>
                    <a:pt x="11269511" y="0"/>
                  </a:lnTo>
                  <a:lnTo>
                    <a:pt x="1126951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47" r="-7103" b="-2564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11269510" cy="3194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2"/>
                </a:lnSpc>
              </a:pPr>
              <a:r>
                <a:rPr lang="en-US" sz="2474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Cách trực quan nhất là thử </a:t>
              </a:r>
              <a:r>
                <a:rPr lang="en-US" sz="2474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mọi tập con</a:t>
              </a:r>
              <a:r>
                <a:rPr lang="en-US" sz="2474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các </a:t>
              </a:r>
              <a:r>
                <a:rPr lang="en-US" sz="2474" u="sng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chiến dịch quảng cáo</a:t>
              </a:r>
              <a:r>
                <a:rPr lang="en-US" sz="2474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lang="en-US" sz="2474" u="sng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tính tổng chi phí và lợi nhuận </a:t>
              </a:r>
              <a:r>
                <a:rPr lang="en-US" sz="2474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của từng tập, rồi chọn tập tốt nhất còn nằm trong ngân sách. Với </a:t>
              </a:r>
              <a:r>
                <a:rPr lang="en-US" sz="2474" i="1">
                  <a:solidFill>
                    <a:srgbClr val="0B2B3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n</a:t>
              </a:r>
              <a:r>
                <a:rPr lang="en-US" sz="2474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chiến dịch, số tập con có thể có là</a:t>
              </a:r>
              <a:r>
                <a:rPr lang="en-US" sz="2474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2ⁿ </a:t>
              </a:r>
              <a:r>
                <a:rPr lang="en-US" sz="2474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 độ phức tạp bùng nổ theo cấp số nhân.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4724" y="5815298"/>
            <a:ext cx="2826067" cy="1591627"/>
            <a:chOff x="0" y="0"/>
            <a:chExt cx="3768090" cy="21221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68090" cy="2122170"/>
            </a:xfrm>
            <a:custGeom>
              <a:avLst/>
              <a:gdLst/>
              <a:ahLst/>
              <a:cxnLst/>
              <a:rect l="l" t="t" r="r" b="b"/>
              <a:pathLst>
                <a:path w="3768090" h="2122170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3620389" y="0"/>
                  </a:lnTo>
                  <a:cubicBezTo>
                    <a:pt x="3701923" y="0"/>
                    <a:pt x="3768090" y="66040"/>
                    <a:pt x="3768090" y="147701"/>
                  </a:cubicBezTo>
                  <a:lnTo>
                    <a:pt x="3768090" y="1974469"/>
                  </a:lnTo>
                  <a:cubicBezTo>
                    <a:pt x="3768090" y="2056003"/>
                    <a:pt x="3702050" y="2122170"/>
                    <a:pt x="3620389" y="2122170"/>
                  </a:cubicBezTo>
                  <a:lnTo>
                    <a:pt x="147701" y="2122170"/>
                  </a:lnTo>
                  <a:cubicBezTo>
                    <a:pt x="66040" y="2122170"/>
                    <a:pt x="0" y="2056130"/>
                    <a:pt x="0" y="1974469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91867" y="5959602"/>
            <a:ext cx="2811780" cy="411480"/>
            <a:chOff x="0" y="0"/>
            <a:chExt cx="374904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49040" cy="548640"/>
            </a:xfrm>
            <a:custGeom>
              <a:avLst/>
              <a:gdLst/>
              <a:ahLst/>
              <a:cxnLst/>
              <a:rect l="l" t="t" r="r" b="b"/>
              <a:pathLst>
                <a:path w="3749040" h="548640">
                  <a:moveTo>
                    <a:pt x="0" y="0"/>
                  </a:moveTo>
                  <a:lnTo>
                    <a:pt x="3749040" y="0"/>
                  </a:lnTo>
                  <a:lnTo>
                    <a:pt x="3749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147" b="-8314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37490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 = 10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1867" y="6371082"/>
            <a:ext cx="2811780" cy="822960"/>
            <a:chOff x="0" y="0"/>
            <a:chExt cx="3749040" cy="1097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9040" cy="1097280"/>
            </a:xfrm>
            <a:custGeom>
              <a:avLst/>
              <a:gdLst/>
              <a:ahLst/>
              <a:cxnLst/>
              <a:rect l="l" t="t" r="r" b="b"/>
              <a:pathLst>
                <a:path w="3749040" h="1097280">
                  <a:moveTo>
                    <a:pt x="0" y="0"/>
                  </a:moveTo>
                  <a:lnTo>
                    <a:pt x="3749040" y="0"/>
                  </a:lnTo>
                  <a:lnTo>
                    <a:pt x="3749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73" b="-1657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374904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C039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1.024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43392" y="5815298"/>
            <a:ext cx="2826067" cy="1591627"/>
            <a:chOff x="0" y="0"/>
            <a:chExt cx="3768090" cy="21221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68090" cy="2122170"/>
            </a:xfrm>
            <a:custGeom>
              <a:avLst/>
              <a:gdLst/>
              <a:ahLst/>
              <a:cxnLst/>
              <a:rect l="l" t="t" r="r" b="b"/>
              <a:pathLst>
                <a:path w="3768090" h="2122170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3620389" y="0"/>
                  </a:lnTo>
                  <a:cubicBezTo>
                    <a:pt x="3701923" y="0"/>
                    <a:pt x="3768090" y="66040"/>
                    <a:pt x="3768090" y="147701"/>
                  </a:cubicBezTo>
                  <a:lnTo>
                    <a:pt x="3768090" y="1974469"/>
                  </a:lnTo>
                  <a:cubicBezTo>
                    <a:pt x="3768090" y="2056003"/>
                    <a:pt x="3702050" y="2122170"/>
                    <a:pt x="3620389" y="2122170"/>
                  </a:cubicBezTo>
                  <a:lnTo>
                    <a:pt x="147701" y="2122170"/>
                  </a:lnTo>
                  <a:cubicBezTo>
                    <a:pt x="66040" y="2122170"/>
                    <a:pt x="0" y="2056130"/>
                    <a:pt x="0" y="1974469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750535" y="5959602"/>
            <a:ext cx="2811780" cy="411480"/>
            <a:chOff x="0" y="0"/>
            <a:chExt cx="3749040" cy="5486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749040" cy="548640"/>
            </a:xfrm>
            <a:custGeom>
              <a:avLst/>
              <a:gdLst/>
              <a:ahLst/>
              <a:cxnLst/>
              <a:rect l="l" t="t" r="r" b="b"/>
              <a:pathLst>
                <a:path w="3749040" h="548640">
                  <a:moveTo>
                    <a:pt x="0" y="0"/>
                  </a:moveTo>
                  <a:lnTo>
                    <a:pt x="3749040" y="0"/>
                  </a:lnTo>
                  <a:lnTo>
                    <a:pt x="3749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147" b="-8314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7490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 = 20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50535" y="6371082"/>
            <a:ext cx="2811780" cy="822960"/>
            <a:chOff x="0" y="0"/>
            <a:chExt cx="3749040" cy="1097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49040" cy="1097280"/>
            </a:xfrm>
            <a:custGeom>
              <a:avLst/>
              <a:gdLst/>
              <a:ahLst/>
              <a:cxnLst/>
              <a:rect l="l" t="t" r="r" b="b"/>
              <a:pathLst>
                <a:path w="3749040" h="1097280">
                  <a:moveTo>
                    <a:pt x="0" y="0"/>
                  </a:moveTo>
                  <a:lnTo>
                    <a:pt x="3749040" y="0"/>
                  </a:lnTo>
                  <a:lnTo>
                    <a:pt x="3749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73" b="-1657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374904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C039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≈ 1 triệu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02060" y="5815298"/>
            <a:ext cx="2826067" cy="1591627"/>
            <a:chOff x="0" y="0"/>
            <a:chExt cx="3768090" cy="21221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68090" cy="2122170"/>
            </a:xfrm>
            <a:custGeom>
              <a:avLst/>
              <a:gdLst/>
              <a:ahLst/>
              <a:cxnLst/>
              <a:rect l="l" t="t" r="r" b="b"/>
              <a:pathLst>
                <a:path w="3768090" h="2122170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3620389" y="0"/>
                  </a:lnTo>
                  <a:cubicBezTo>
                    <a:pt x="3701923" y="0"/>
                    <a:pt x="3768090" y="66040"/>
                    <a:pt x="3768090" y="147701"/>
                  </a:cubicBezTo>
                  <a:lnTo>
                    <a:pt x="3768090" y="1974469"/>
                  </a:lnTo>
                  <a:cubicBezTo>
                    <a:pt x="3768090" y="2056003"/>
                    <a:pt x="3702050" y="2122170"/>
                    <a:pt x="3620389" y="2122170"/>
                  </a:cubicBezTo>
                  <a:lnTo>
                    <a:pt x="147701" y="2122170"/>
                  </a:lnTo>
                  <a:cubicBezTo>
                    <a:pt x="66040" y="2122170"/>
                    <a:pt x="0" y="2056130"/>
                    <a:pt x="0" y="1974469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809203" y="5959602"/>
            <a:ext cx="2811780" cy="411480"/>
            <a:chOff x="0" y="0"/>
            <a:chExt cx="374904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49040" cy="548640"/>
            </a:xfrm>
            <a:custGeom>
              <a:avLst/>
              <a:gdLst/>
              <a:ahLst/>
              <a:cxnLst/>
              <a:rect l="l" t="t" r="r" b="b"/>
              <a:pathLst>
                <a:path w="3749040" h="548640">
                  <a:moveTo>
                    <a:pt x="0" y="0"/>
                  </a:moveTo>
                  <a:lnTo>
                    <a:pt x="3749040" y="0"/>
                  </a:lnTo>
                  <a:lnTo>
                    <a:pt x="3749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147" b="-8314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37490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 = 50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09203" y="6371082"/>
            <a:ext cx="2811780" cy="822960"/>
            <a:chOff x="0" y="0"/>
            <a:chExt cx="3749040" cy="10972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749040" cy="1097280"/>
            </a:xfrm>
            <a:custGeom>
              <a:avLst/>
              <a:gdLst/>
              <a:ahLst/>
              <a:cxnLst/>
              <a:rect l="l" t="t" r="r" b="b"/>
              <a:pathLst>
                <a:path w="3749040" h="1097280">
                  <a:moveTo>
                    <a:pt x="0" y="0"/>
                  </a:moveTo>
                  <a:lnTo>
                    <a:pt x="3749040" y="0"/>
                  </a:lnTo>
                  <a:lnTo>
                    <a:pt x="3749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73" b="-1657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374904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C039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≈ 1,1 × 10¹⁵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91867" y="7879842"/>
            <a:ext cx="9052560" cy="1851660"/>
            <a:chOff x="0" y="0"/>
            <a:chExt cx="12070080" cy="24688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070080" cy="2468880"/>
            </a:xfrm>
            <a:custGeom>
              <a:avLst/>
              <a:gdLst/>
              <a:ahLst/>
              <a:cxnLst/>
              <a:rect l="l" t="t" r="r" b="b"/>
              <a:pathLst>
                <a:path w="12070080" h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2322576"/>
                  </a:lnTo>
                  <a:cubicBezTo>
                    <a:pt x="12070080" y="2403348"/>
                    <a:pt x="12004548" y="2468880"/>
                    <a:pt x="11923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66187" y="8154162"/>
            <a:ext cx="685800" cy="685800"/>
            <a:chOff x="0" y="0"/>
            <a:chExt cx="914400" cy="91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55341" y="8243316"/>
            <a:ext cx="507492" cy="507492"/>
            <a:chOff x="0" y="0"/>
            <a:chExt cx="676656" cy="676656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857727" y="8154162"/>
            <a:ext cx="7680960" cy="1440180"/>
            <a:chOff x="0" y="0"/>
            <a:chExt cx="10241280" cy="19202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241280" cy="1920240"/>
            </a:xfrm>
            <a:custGeom>
              <a:avLst/>
              <a:gdLst/>
              <a:ahLst/>
              <a:cxnLst/>
              <a:rect l="l" t="t" r="r" b="b"/>
              <a:pathLst>
                <a:path w="10241280" h="1920240">
                  <a:moveTo>
                    <a:pt x="0" y="0"/>
                  </a:moveTo>
                  <a:lnTo>
                    <a:pt x="10241280" y="0"/>
                  </a:lnTo>
                  <a:lnTo>
                    <a:pt x="10241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0241280" cy="196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8A5A1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Với n = 50 quảng cáo — quy mô rất phổ biến trong thực tế đấu thầu quảng cáo — Vét cạn cần duyệt hơn 10¹⁵ tập con, khiến hệ thống sụp đổ ngay cả trên phần cứng mạnh nhất.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126980" y="2721578"/>
            <a:ext cx="7132320" cy="548640"/>
            <a:chOff x="0" y="0"/>
            <a:chExt cx="9509760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305" b="-193305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5097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TỐC ĐỘ BÙNG NỔ CỦA 2ⁿ</a:t>
              </a:r>
            </a:p>
          </p:txBody>
        </p:sp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167" y="3152108"/>
            <a:ext cx="8047994" cy="554083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10201170" y="8518267"/>
            <a:ext cx="7338060" cy="1371600"/>
            <a:chOff x="0" y="0"/>
            <a:chExt cx="9784080" cy="1828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784080" cy="1828800"/>
            </a:xfrm>
            <a:custGeom>
              <a:avLst/>
              <a:gdLst/>
              <a:ahLst/>
              <a:cxnLst/>
              <a:rect l="l" t="t" r="r" b="b"/>
              <a:pathLst>
                <a:path w="9784080" h="1828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637776" y="0"/>
                  </a:lnTo>
                  <a:cubicBezTo>
                    <a:pt x="9718548" y="0"/>
                    <a:pt x="9784080" y="65532"/>
                    <a:pt x="9784080" y="146304"/>
                  </a:cubicBezTo>
                  <a:lnTo>
                    <a:pt x="9784080" y="1682496"/>
                  </a:lnTo>
                  <a:cubicBezTo>
                    <a:pt x="9784080" y="1763268"/>
                    <a:pt x="9718548" y="1828800"/>
                    <a:pt x="96377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498807" y="8572500"/>
            <a:ext cx="6926580" cy="1371600"/>
            <a:chOff x="0" y="0"/>
            <a:chExt cx="9235440" cy="1828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235440" cy="1828800"/>
            </a:xfrm>
            <a:custGeom>
              <a:avLst/>
              <a:gdLst/>
              <a:ahLst/>
              <a:cxnLst/>
              <a:rect l="l" t="t" r="r" b="b"/>
              <a:pathLst>
                <a:path w="9235440" h="1828800">
                  <a:moveTo>
                    <a:pt x="0" y="0"/>
                  </a:moveTo>
                  <a:lnTo>
                    <a:pt x="9235440" y="0"/>
                  </a:lnTo>
                  <a:lnTo>
                    <a:pt x="9235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399" b="-48399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9235440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 i="1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Kết luận: Vét cạn có độ phức tạp O(2ⁿ) — không khả thi. Cần một chiến lược thiết kế giải thuật hiệu quả hơn.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23287" y="10458450"/>
            <a:ext cx="10972800" cy="411480"/>
            <a:chOff x="0" y="0"/>
            <a:chExt cx="14630400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ĐẶT VẤN ĐỀ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167630" y="10458450"/>
            <a:ext cx="1371600" cy="411480"/>
            <a:chOff x="0" y="0"/>
            <a:chExt cx="182880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 / 15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105968"/>
            <a:ext cx="14370015" cy="39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68516" y="1474470"/>
            <a:ext cx="4389120" cy="466344"/>
            <a:chOff x="0" y="0"/>
            <a:chExt cx="5852160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2160" cy="621792"/>
            </a:xfrm>
            <a:custGeom>
              <a:avLst/>
              <a:gdLst/>
              <a:ahLst/>
              <a:cxnLst/>
              <a:rect l="l" t="t" r="r" b="b"/>
              <a:pathLst>
                <a:path w="5852160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705856" y="0"/>
                  </a:lnTo>
                  <a:cubicBezTo>
                    <a:pt x="5786628" y="0"/>
                    <a:pt x="5852160" y="65532"/>
                    <a:pt x="5852160" y="146304"/>
                  </a:cubicBezTo>
                  <a:lnTo>
                    <a:pt x="5852160" y="475488"/>
                  </a:lnTo>
                  <a:cubicBezTo>
                    <a:pt x="5852160" y="556260"/>
                    <a:pt x="5786628" y="621792"/>
                    <a:pt x="5705856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68516" y="1474470"/>
            <a:ext cx="4389120" cy="478780"/>
            <a:chOff x="0" y="0"/>
            <a:chExt cx="5852160" cy="6383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52160" cy="638373"/>
            </a:xfrm>
            <a:custGeom>
              <a:avLst/>
              <a:gdLst/>
              <a:ahLst/>
              <a:cxnLst/>
              <a:rect l="l" t="t" r="r" b="b"/>
              <a:pathLst>
                <a:path w="5852160" h="638373">
                  <a:moveTo>
                    <a:pt x="0" y="0"/>
                  </a:moveTo>
                  <a:lnTo>
                    <a:pt x="5852160" y="0"/>
                  </a:lnTo>
                  <a:lnTo>
                    <a:pt x="585216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923" b="-12732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5852160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spc="184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 · CÁCH GIẢI QUYẾT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8516" y="2023110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2494240" cy="1564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Hai chiến lược thiết kế giải thuật kinh điển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5780" y="3009894"/>
            <a:ext cx="16733520" cy="900166"/>
            <a:chOff x="0" y="0"/>
            <a:chExt cx="22311360" cy="12002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11361" cy="1200221"/>
            </a:xfrm>
            <a:custGeom>
              <a:avLst/>
              <a:gdLst/>
              <a:ahLst/>
              <a:cxnLst/>
              <a:rect l="l" t="t" r="r" b="b"/>
              <a:pathLst>
                <a:path w="22311361" h="1200221">
                  <a:moveTo>
                    <a:pt x="0" y="0"/>
                  </a:moveTo>
                  <a:lnTo>
                    <a:pt x="22311361" y="0"/>
                  </a:lnTo>
                  <a:lnTo>
                    <a:pt x="22311361" y="1200221"/>
                  </a:lnTo>
                  <a:lnTo>
                    <a:pt x="0" y="12002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03" b="-30792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2311360" cy="1257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Thay vì vét cạn, bài toán được giải bằng hai hướng tiếp cận kinh điển trong Phân tích thiết kế giải thuật — mỗi hướng đánh đổi giữa </a:t>
              </a:r>
              <a:r>
                <a:rPr lang="en-US" sz="2400" u="sng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độ chính xác và tốc độ xử lý: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7260" y="4477506"/>
            <a:ext cx="850392" cy="850392"/>
            <a:chOff x="0" y="0"/>
            <a:chExt cx="1133856" cy="11338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113385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47807" y="4588053"/>
            <a:ext cx="629288" cy="629288"/>
            <a:chOff x="0" y="0"/>
            <a:chExt cx="839051" cy="839051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839089" cy="839089"/>
            </a:xfrm>
            <a:custGeom>
              <a:avLst/>
              <a:gdLst/>
              <a:ahLst/>
              <a:cxnLst/>
              <a:rect l="l" t="t" r="r" b="b"/>
              <a:pathLst>
                <a:path w="839089" h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2034540" y="4477506"/>
            <a:ext cx="6309360" cy="850392"/>
            <a:chOff x="0" y="0"/>
            <a:chExt cx="8412480" cy="11338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412480" cy="1133856"/>
            </a:xfrm>
            <a:custGeom>
              <a:avLst/>
              <a:gdLst/>
              <a:ahLst/>
              <a:cxnLst/>
              <a:rect l="l" t="t" r="r" b="b"/>
              <a:pathLst>
                <a:path w="8412480" h="1133856">
                  <a:moveTo>
                    <a:pt x="0" y="0"/>
                  </a:moveTo>
                  <a:lnTo>
                    <a:pt x="8412480" y="0"/>
                  </a:lnTo>
                  <a:lnTo>
                    <a:pt x="8412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66" b="-9456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41248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QUY HOẠCH ĐỘNG (DP)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8576" y="6055614"/>
            <a:ext cx="164592" cy="164592"/>
            <a:chOff x="0" y="0"/>
            <a:chExt cx="219456" cy="2194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21945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321308" y="5506206"/>
            <a:ext cx="6858000" cy="987552"/>
            <a:chOff x="0" y="0"/>
            <a:chExt cx="9144000" cy="13167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0" cy="1316736"/>
            </a:xfrm>
            <a:custGeom>
              <a:avLst/>
              <a:gdLst/>
              <a:ahLst/>
              <a:cxnLst/>
              <a:rect l="l" t="t" r="r" b="b"/>
              <a:pathLst>
                <a:path w="9144000" h="1316736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312" b="-8531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91440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Chia bài toán lớn thành các bài toán con, lưu lại (ghi nhớ) kết quả để tránh tính lại.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8576" y="7180326"/>
            <a:ext cx="164592" cy="164592"/>
            <a:chOff x="0" y="0"/>
            <a:chExt cx="219456" cy="2194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21945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21308" y="6630918"/>
            <a:ext cx="6858000" cy="987552"/>
            <a:chOff x="0" y="0"/>
            <a:chExt cx="9144000" cy="131673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0" cy="1316736"/>
            </a:xfrm>
            <a:custGeom>
              <a:avLst/>
              <a:gdLst/>
              <a:ahLst/>
              <a:cxnLst/>
              <a:rect l="l" t="t" r="r" b="b"/>
              <a:pathLst>
                <a:path w="9144000" h="1316736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312" b="-8531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91440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Xét đầy đủ mọi khả năng "chọn / bỏ qua" tại từng bước → đảm bảo tối ưu toàn cục.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8576" y="8305038"/>
            <a:ext cx="164592" cy="164592"/>
            <a:chOff x="0" y="0"/>
            <a:chExt cx="219456" cy="2194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21945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321308" y="7755630"/>
            <a:ext cx="6858000" cy="987552"/>
            <a:chOff x="0" y="0"/>
            <a:chExt cx="9144000" cy="13167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0" cy="1316736"/>
            </a:xfrm>
            <a:custGeom>
              <a:avLst/>
              <a:gdLst/>
              <a:ahLst/>
              <a:cxnLst/>
              <a:rect l="l" t="t" r="r" b="b"/>
              <a:pathLst>
                <a:path w="9144000" h="1316736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312" b="-8531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91440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Đánh đổi: tốn nhiều bộ nhớ và thời gian hơn khi ngân sách lớn.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78340" y="4477506"/>
            <a:ext cx="850392" cy="850392"/>
            <a:chOff x="0" y="0"/>
            <a:chExt cx="1133856" cy="11338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1133856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688887" y="4588053"/>
            <a:ext cx="629288" cy="629288"/>
            <a:chOff x="0" y="0"/>
            <a:chExt cx="839051" cy="839051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839089" cy="839089"/>
            </a:xfrm>
            <a:custGeom>
              <a:avLst/>
              <a:gdLst/>
              <a:ahLst/>
              <a:cxnLst/>
              <a:rect l="l" t="t" r="r" b="b"/>
              <a:pathLst>
                <a:path w="839089" h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0675620" y="4477506"/>
            <a:ext cx="6309360" cy="850392"/>
            <a:chOff x="0" y="0"/>
            <a:chExt cx="8412480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412480" cy="1133856"/>
            </a:xfrm>
            <a:custGeom>
              <a:avLst/>
              <a:gdLst/>
              <a:ahLst/>
              <a:cxnLst/>
              <a:rect l="l" t="t" r="r" b="b"/>
              <a:pathLst>
                <a:path w="8412480" h="1133856">
                  <a:moveTo>
                    <a:pt x="0" y="0"/>
                  </a:moveTo>
                  <a:lnTo>
                    <a:pt x="8412480" y="0"/>
                  </a:lnTo>
                  <a:lnTo>
                    <a:pt x="8412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66" b="-9456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841248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CHIẾN LƯỢC THAM LAM (GREEDY)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578340" y="5698230"/>
            <a:ext cx="164592" cy="164592"/>
            <a:chOff x="0" y="0"/>
            <a:chExt cx="219456" cy="21945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219456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9962388" y="5506206"/>
            <a:ext cx="6858000" cy="987552"/>
            <a:chOff x="0" y="0"/>
            <a:chExt cx="9144000" cy="131673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0" cy="1316736"/>
            </a:xfrm>
            <a:custGeom>
              <a:avLst/>
              <a:gdLst/>
              <a:ahLst/>
              <a:cxnLst/>
              <a:rect l="l" t="t" r="r" b="b"/>
              <a:pathLst>
                <a:path w="9144000" h="1316736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312" b="-8531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91440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Luôn chọn phương án tốt nhất tại thời điểm hiện tại (tỷ lệ Profit/Cost cao nhất), không quay lui.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78340" y="6822942"/>
            <a:ext cx="164592" cy="164592"/>
            <a:chOff x="0" y="0"/>
            <a:chExt cx="219456" cy="21945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219456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9962388" y="6630918"/>
            <a:ext cx="6858000" cy="987552"/>
            <a:chOff x="0" y="0"/>
            <a:chExt cx="9144000" cy="131673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0" cy="1316736"/>
            </a:xfrm>
            <a:custGeom>
              <a:avLst/>
              <a:gdLst/>
              <a:ahLst/>
              <a:cxnLst/>
              <a:rect l="l" t="t" r="r" b="b"/>
              <a:pathLst>
                <a:path w="9144000" h="1316736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312" b="-8531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91440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Sắp xếp một lần rồi duyệt tuần tự — cực kỳ đơn giản và nhanh.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578340" y="7947654"/>
            <a:ext cx="164592" cy="164592"/>
            <a:chOff x="0" y="0"/>
            <a:chExt cx="219456" cy="21945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219456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9962388" y="7755630"/>
            <a:ext cx="6858000" cy="987552"/>
            <a:chOff x="0" y="0"/>
            <a:chExt cx="9144000" cy="131673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144000" cy="1316736"/>
            </a:xfrm>
            <a:custGeom>
              <a:avLst/>
              <a:gdLst/>
              <a:ahLst/>
              <a:cxnLst/>
              <a:rect l="l" t="t" r="r" b="b"/>
              <a:pathLst>
                <a:path w="9144000" h="1316736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312" b="-8531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57150"/>
              <a:ext cx="91440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Đánh đổi: không đảm bảo tối ưu toàn cục trong bài toán 0/1.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2552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51231" y="1474470"/>
            <a:ext cx="5129784" cy="466344"/>
            <a:chOff x="0" y="0"/>
            <a:chExt cx="6839712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93408" y="0"/>
                  </a:lnTo>
                  <a:cubicBezTo>
                    <a:pt x="6774180" y="0"/>
                    <a:pt x="6839712" y="65532"/>
                    <a:pt x="6839712" y="146304"/>
                  </a:cubicBezTo>
                  <a:lnTo>
                    <a:pt x="6839712" y="475488"/>
                  </a:lnTo>
                  <a:cubicBezTo>
                    <a:pt x="6839712" y="556260"/>
                    <a:pt x="6774180" y="621792"/>
                    <a:pt x="669340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51231" y="1474470"/>
            <a:ext cx="5129784" cy="466344"/>
            <a:chOff x="0" y="0"/>
            <a:chExt cx="6839712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0"/>
                  </a:moveTo>
                  <a:lnTo>
                    <a:pt x="6839712" y="0"/>
                  </a:lnTo>
                  <a:lnTo>
                    <a:pt x="683971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83971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 · DYNAMIC PROGRAMMING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1231" y="2023110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Tư tưởng &amp; công thức truy hồi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8700" y="3105874"/>
            <a:ext cx="9938052" cy="1028700"/>
            <a:chOff x="0" y="0"/>
            <a:chExt cx="13250736" cy="1371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250734" cy="1371600"/>
            </a:xfrm>
            <a:custGeom>
              <a:avLst/>
              <a:gdLst/>
              <a:ahLst/>
              <a:cxnLst/>
              <a:rect l="l" t="t" r="r" b="b"/>
              <a:pathLst>
                <a:path w="13250734" h="1371600">
                  <a:moveTo>
                    <a:pt x="0" y="0"/>
                  </a:moveTo>
                  <a:lnTo>
                    <a:pt x="13250734" y="0"/>
                  </a:lnTo>
                  <a:lnTo>
                    <a:pt x="1325073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240" b="-13824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3250736" cy="1428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16"/>
                </a:lnSpc>
              </a:pPr>
              <a:r>
                <a:rPr lang="en-US" sz="2025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Trạng thái: </a:t>
              </a:r>
              <a:r>
                <a:rPr lang="en-US" sz="2025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dp[i][w] = tổng lợi nhuận lớn nhất khi chỉ xét i chiến dịch đầu tiên, với ngân sách giới hạn w.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19811" y="4533138"/>
            <a:ext cx="9052560" cy="2606040"/>
            <a:chOff x="0" y="0"/>
            <a:chExt cx="12070080" cy="34747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70080" cy="3474720"/>
            </a:xfrm>
            <a:custGeom>
              <a:avLst/>
              <a:gdLst/>
              <a:ahLst/>
              <a:cxnLst/>
              <a:rect l="l" t="t" r="r" b="b"/>
              <a:pathLst>
                <a:path w="12070080" h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3328416"/>
                  </a:lnTo>
                  <a:cubicBezTo>
                    <a:pt x="12070080" y="3409188"/>
                    <a:pt x="12004548" y="3474720"/>
                    <a:pt x="119237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62711" y="4807458"/>
            <a:ext cx="8229600" cy="411480"/>
            <a:chOff x="0" y="0"/>
            <a:chExt cx="109728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CÔNG THỨC TRUY HỒI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2711" y="5287518"/>
            <a:ext cx="8229600" cy="438912"/>
            <a:chOff x="0" y="0"/>
            <a:chExt cx="10972800" cy="5852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72800" cy="585216"/>
            </a:xfrm>
            <a:custGeom>
              <a:avLst/>
              <a:gdLst/>
              <a:ahLst/>
              <a:cxnLst/>
              <a:rect l="l" t="t" r="r" b="b"/>
              <a:pathLst>
                <a:path w="10972800" h="585216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Nếu cost[i] &gt; w: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8511" y="5698998"/>
            <a:ext cx="7680960" cy="466344"/>
            <a:chOff x="0" y="0"/>
            <a:chExt cx="10241280" cy="6217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241280" cy="621792"/>
            </a:xfrm>
            <a:custGeom>
              <a:avLst/>
              <a:gdLst/>
              <a:ahLst/>
              <a:cxnLst/>
              <a:rect l="l" t="t" r="r" b="b"/>
              <a:pathLst>
                <a:path w="10241280" h="621792">
                  <a:moveTo>
                    <a:pt x="0" y="0"/>
                  </a:moveTo>
                  <a:lnTo>
                    <a:pt x="10241280" y="0"/>
                  </a:lnTo>
                  <a:lnTo>
                    <a:pt x="102412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930" b="-27093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024128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dp[i][w] = dp[i-1][w]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2711" y="6275070"/>
            <a:ext cx="8229600" cy="438912"/>
            <a:chOff x="0" y="0"/>
            <a:chExt cx="10972800" cy="5852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972800" cy="585216"/>
            </a:xfrm>
            <a:custGeom>
              <a:avLst/>
              <a:gdLst/>
              <a:ahLst/>
              <a:cxnLst/>
              <a:rect l="l" t="t" r="r" b="b"/>
              <a:pathLst>
                <a:path w="10972800" h="585216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Nếu cost[i] ≤ w: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48511" y="6686550"/>
            <a:ext cx="7955280" cy="466344"/>
            <a:chOff x="0" y="0"/>
            <a:chExt cx="10607040" cy="6217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607040" cy="621792"/>
            </a:xfrm>
            <a:custGeom>
              <a:avLst/>
              <a:gdLst/>
              <a:ahLst/>
              <a:cxnLst/>
              <a:rect l="l" t="t" r="r" b="b"/>
              <a:pathLst>
                <a:path w="10607040" h="621792">
                  <a:moveTo>
                    <a:pt x="0" y="0"/>
                  </a:moveTo>
                  <a:lnTo>
                    <a:pt x="10607040" y="0"/>
                  </a:lnTo>
                  <a:lnTo>
                    <a:pt x="106070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391" b="-28239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060704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dp[i][w] = max( dp[i-1][w], profit[i] + dp[i-1][w-cost[i]] 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9811" y="7495794"/>
            <a:ext cx="150876" cy="150876"/>
            <a:chOff x="0" y="0"/>
            <a:chExt cx="201168" cy="2011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0"/>
                  </a:moveTo>
                  <a:lnTo>
                    <a:pt x="201168" y="201168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90143" y="7303770"/>
            <a:ext cx="8709660" cy="754380"/>
            <a:chOff x="0" y="0"/>
            <a:chExt cx="11612880" cy="1005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612880" cy="1005840"/>
            </a:xfrm>
            <a:custGeom>
              <a:avLst/>
              <a:gdLst/>
              <a:ahLst/>
              <a:cxnLst/>
              <a:rect l="l" t="t" r="r" b="b"/>
              <a:pathLst>
                <a:path w="11612880" h="1005840">
                  <a:moveTo>
                    <a:pt x="0" y="0"/>
                  </a:moveTo>
                  <a:lnTo>
                    <a:pt x="11612880" y="0"/>
                  </a:lnTo>
                  <a:lnTo>
                    <a:pt x="11612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963" b="-17496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161288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Bỏ qua: giữ nguyên kết quả tốt nhất khi chưa xét chiến dịch i.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19811" y="8250174"/>
            <a:ext cx="150876" cy="150876"/>
            <a:chOff x="0" y="0"/>
            <a:chExt cx="201168" cy="20116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0"/>
                  </a:moveTo>
                  <a:lnTo>
                    <a:pt x="201168" y="201168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90143" y="8058150"/>
            <a:ext cx="8709660" cy="754380"/>
            <a:chOff x="0" y="0"/>
            <a:chExt cx="11612880" cy="10058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612880" cy="1005840"/>
            </a:xfrm>
            <a:custGeom>
              <a:avLst/>
              <a:gdLst/>
              <a:ahLst/>
              <a:cxnLst/>
              <a:rect l="l" t="t" r="r" b="b"/>
              <a:pathLst>
                <a:path w="11612880" h="1005840">
                  <a:moveTo>
                    <a:pt x="0" y="0"/>
                  </a:moveTo>
                  <a:lnTo>
                    <a:pt x="11612880" y="0"/>
                  </a:lnTo>
                  <a:lnTo>
                    <a:pt x="11612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963" b="-17496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161288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Chọn: cộng lợi nhuận chiến dịch i vào kết quả tối ưu của phần ngân sách còn lại.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19811" y="9004554"/>
            <a:ext cx="150876" cy="150876"/>
            <a:chOff x="0" y="0"/>
            <a:chExt cx="201168" cy="20116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0"/>
                  </a:moveTo>
                  <a:lnTo>
                    <a:pt x="201168" y="201168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690143" y="8812530"/>
            <a:ext cx="8709660" cy="754380"/>
            <a:chOff x="0" y="0"/>
            <a:chExt cx="1161288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612880" cy="1005840"/>
            </a:xfrm>
            <a:custGeom>
              <a:avLst/>
              <a:gdLst/>
              <a:ahLst/>
              <a:cxnLst/>
              <a:rect l="l" t="t" r="r" b="b"/>
              <a:pathLst>
                <a:path w="11612880" h="1005840">
                  <a:moveTo>
                    <a:pt x="0" y="0"/>
                  </a:moveTo>
                  <a:lnTo>
                    <a:pt x="11612880" y="0"/>
                  </a:lnTo>
                  <a:lnTo>
                    <a:pt x="11612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963" b="-17496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161288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Hàm max chọn phương án cho lợi nhuận cao hơn tại mỗi ô của bảng.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126751" y="3435858"/>
            <a:ext cx="6926580" cy="822960"/>
            <a:chOff x="0" y="0"/>
            <a:chExt cx="9235440" cy="10972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235440" cy="1097280"/>
            </a:xfrm>
            <a:custGeom>
              <a:avLst/>
              <a:gdLst/>
              <a:ahLst/>
              <a:cxnLst/>
              <a:rect l="l" t="t" r="r" b="b"/>
              <a:pathLst>
                <a:path w="9235440" h="1097280">
                  <a:moveTo>
                    <a:pt x="0" y="0"/>
                  </a:moveTo>
                  <a:lnTo>
                    <a:pt x="9235440" y="0"/>
                  </a:lnTo>
                  <a:lnTo>
                    <a:pt x="9235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999" b="-11399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923544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Xét chiến dịch thứ i tại ngân sách w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126751" y="5212080"/>
            <a:ext cx="6926580" cy="1028700"/>
            <a:chOff x="0" y="0"/>
            <a:chExt cx="9235440" cy="13716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235440" cy="1371600"/>
            </a:xfrm>
            <a:custGeom>
              <a:avLst/>
              <a:gdLst/>
              <a:ahLst/>
              <a:cxnLst/>
              <a:rect l="l" t="t" r="r" b="b"/>
              <a:pathLst>
                <a:path w="9235440" h="1371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089136" y="0"/>
                  </a:lnTo>
                  <a:cubicBezTo>
                    <a:pt x="9169908" y="0"/>
                    <a:pt x="9235440" y="65532"/>
                    <a:pt x="9235440" y="146304"/>
                  </a:cubicBezTo>
                  <a:lnTo>
                    <a:pt x="9235440" y="1225296"/>
                  </a:lnTo>
                  <a:cubicBezTo>
                    <a:pt x="9235440" y="1306068"/>
                    <a:pt x="9169908" y="1371600"/>
                    <a:pt x="9089136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332491" y="9224010"/>
            <a:ext cx="685800" cy="685800"/>
            <a:chOff x="0" y="0"/>
            <a:chExt cx="914400" cy="914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510799" y="5445252"/>
            <a:ext cx="507492" cy="507492"/>
            <a:chOff x="0" y="0"/>
            <a:chExt cx="676656" cy="676656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1429771" y="5212080"/>
            <a:ext cx="5623560" cy="1028700"/>
            <a:chOff x="0" y="0"/>
            <a:chExt cx="7498080" cy="13716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498080" cy="1371600"/>
            </a:xfrm>
            <a:custGeom>
              <a:avLst/>
              <a:gdLst/>
              <a:ahLst/>
              <a:cxnLst/>
              <a:rect l="l" t="t" r="r" b="b"/>
              <a:pathLst>
                <a:path w="7498080" h="1371600">
                  <a:moveTo>
                    <a:pt x="0" y="0"/>
                  </a:moveTo>
                  <a:lnTo>
                    <a:pt x="7498080" y="0"/>
                  </a:lnTo>
                  <a:lnTo>
                    <a:pt x="7498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518" b="-5651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749808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 i="1">
                  <a:solidFill>
                    <a:srgbClr val="8A5A12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Ghi nhớ mọi kết quả con → không tính lại → đảm bảo tối ưu toàn cục.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25196" y="1452810"/>
            <a:ext cx="5129784" cy="466344"/>
            <a:chOff x="0" y="0"/>
            <a:chExt cx="6839712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93408" y="0"/>
                  </a:lnTo>
                  <a:cubicBezTo>
                    <a:pt x="6774180" y="0"/>
                    <a:pt x="6839712" y="65532"/>
                    <a:pt x="6839712" y="146304"/>
                  </a:cubicBezTo>
                  <a:lnTo>
                    <a:pt x="6839712" y="475488"/>
                  </a:lnTo>
                  <a:cubicBezTo>
                    <a:pt x="6839712" y="556260"/>
                    <a:pt x="6774180" y="621792"/>
                    <a:pt x="669340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25196" y="1452810"/>
            <a:ext cx="5129784" cy="466344"/>
            <a:chOff x="0" y="0"/>
            <a:chExt cx="6839712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0"/>
                  </a:moveTo>
                  <a:lnTo>
                    <a:pt x="6839712" y="0"/>
                  </a:lnTo>
                  <a:lnTo>
                    <a:pt x="683971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83971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 · DYNAMIC PROGRAMMING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5196" y="2001450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Ví dụ minh họa: lập bảng DP (4 chiến dịch, Budget = 7)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03301" y="3164776"/>
            <a:ext cx="5486400" cy="384048"/>
            <a:chOff x="0" y="0"/>
            <a:chExt cx="7315200" cy="512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DỮ LIỆU ĐẦU VÀO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503301" y="3757098"/>
          <a:ext cx="4800601" cy="2667000"/>
        </p:xfrm>
        <a:graphic>
          <a:graphicData uri="http://schemas.openxmlformats.org/drawingml/2006/table">
            <a:tbl>
              <a:tblPr/>
              <a:tblGrid>
                <a:gridCol w="204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Chiến dịch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Cost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Profit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QC3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7" name="Group 17"/>
          <p:cNvGrpSpPr/>
          <p:nvPr/>
        </p:nvGrpSpPr>
        <p:grpSpPr>
          <a:xfrm>
            <a:off x="493776" y="6843198"/>
            <a:ext cx="4800600" cy="548640"/>
            <a:chOff x="0" y="0"/>
            <a:chExt cx="640080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4008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Ngân sách (Budget) = 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3776" y="7597578"/>
            <a:ext cx="4800600" cy="1097280"/>
            <a:chOff x="0" y="0"/>
            <a:chExt cx="6400800" cy="1463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00800" cy="1463040"/>
            </a:xfrm>
            <a:custGeom>
              <a:avLst/>
              <a:gdLst/>
              <a:ahLst/>
              <a:cxnLst/>
              <a:rect l="l" t="t" r="r" b="b"/>
              <a:pathLst>
                <a:path w="6400800" h="1463040">
                  <a:moveTo>
                    <a:pt x="0" y="73152"/>
                  </a:moveTo>
                  <a:cubicBezTo>
                    <a:pt x="0" y="32766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32766"/>
                    <a:pt x="6400800" y="73152"/>
                  </a:cubicBezTo>
                  <a:lnTo>
                    <a:pt x="6400800" y="1389888"/>
                  </a:lnTo>
                  <a:cubicBezTo>
                    <a:pt x="6400800" y="1430274"/>
                    <a:pt x="6335268" y="1463040"/>
                    <a:pt x="6254496" y="1463040"/>
                  </a:cubicBezTo>
                  <a:lnTo>
                    <a:pt x="146304" y="1463040"/>
                  </a:lnTo>
                  <a:cubicBezTo>
                    <a:pt x="65532" y="1463040"/>
                    <a:pt x="0" y="1430274"/>
                    <a:pt x="0" y="13898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768096" y="7736643"/>
            <a:ext cx="4251960" cy="184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950" i="1">
                <a:solidFill>
                  <a:srgbClr val="02809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dp[i][w] = tổng lợi nhuận lớn nhất khi xét i chiến dịch đầu, ngân sách w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74436" y="3179216"/>
            <a:ext cx="6858000" cy="384048"/>
            <a:chOff x="0" y="0"/>
            <a:chExt cx="9144000" cy="5120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914400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BẢNG PHƯƠNG ÁN dp[i][w]</a:t>
              </a:r>
            </a:p>
          </p:txBody>
        </p:sp>
      </p:grpSp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5774436" y="3757098"/>
          <a:ext cx="11372854" cy="3543300"/>
        </p:xfrm>
        <a:graphic>
          <a:graphicData uri="http://schemas.openxmlformats.org/drawingml/2006/table">
            <a:tbl>
              <a:tblPr/>
              <a:tblGrid>
                <a:gridCol w="1159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66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 \ w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i=3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7" name="Group 27"/>
          <p:cNvGrpSpPr/>
          <p:nvPr/>
        </p:nvGrpSpPr>
        <p:grpSpPr>
          <a:xfrm>
            <a:off x="5774436" y="8146218"/>
            <a:ext cx="11452860" cy="754380"/>
            <a:chOff x="0" y="0"/>
            <a:chExt cx="15270480" cy="1005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270480" cy="1005840"/>
            </a:xfrm>
            <a:custGeom>
              <a:avLst/>
              <a:gdLst/>
              <a:ahLst/>
              <a:cxnLst/>
              <a:rect l="l" t="t" r="r" b="b"/>
              <a:pathLst>
                <a:path w="15270480" h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5124176" y="0"/>
                  </a:lnTo>
                  <a:cubicBezTo>
                    <a:pt x="15204948" y="0"/>
                    <a:pt x="15270480" y="65532"/>
                    <a:pt x="15270480" y="146304"/>
                  </a:cubicBezTo>
                  <a:lnTo>
                    <a:pt x="15270480" y="859536"/>
                  </a:lnTo>
                  <a:cubicBezTo>
                    <a:pt x="15270480" y="940308"/>
                    <a:pt x="15204948" y="1005840"/>
                    <a:pt x="1512417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5974461" y="8146218"/>
            <a:ext cx="10972800" cy="754380"/>
            <a:chOff x="0" y="0"/>
            <a:chExt cx="14630400" cy="10058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630400" cy="1005840"/>
            </a:xfrm>
            <a:custGeom>
              <a:avLst/>
              <a:gdLst/>
              <a:ahLst/>
              <a:cxnLst/>
              <a:rect l="l" t="t" r="r" b="b"/>
              <a:pathLst>
                <a:path w="14630400" h="1005840">
                  <a:moveTo>
                    <a:pt x="0" y="0"/>
                  </a:moveTo>
                  <a:lnTo>
                    <a:pt x="14630400" y="0"/>
                  </a:lnTo>
                  <a:lnTo>
                    <a:pt x="1463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46304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quả tối ưu: dp[4][7] = 10</a:t>
              </a:r>
              <a:r>
                <a:rPr lang="en-US" sz="1950" i="1">
                  <a:solidFill>
                    <a:srgbClr val="D7E9E9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   —   ô màu cam là đường truy vết dẫn đến lời giải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5196" y="10587666"/>
            <a:ext cx="10972800" cy="411480"/>
            <a:chOff x="0" y="0"/>
            <a:chExt cx="1463040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DYNAMIC PROGRAMMING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969539" y="10587666"/>
            <a:ext cx="1371600" cy="411480"/>
            <a:chOff x="0" y="0"/>
            <a:chExt cx="18288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08 / 15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927" y="9307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25196" y="1420549"/>
            <a:ext cx="5129784" cy="466344"/>
            <a:chOff x="0" y="0"/>
            <a:chExt cx="6839712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93408" y="0"/>
                  </a:lnTo>
                  <a:cubicBezTo>
                    <a:pt x="6774180" y="0"/>
                    <a:pt x="6839712" y="65532"/>
                    <a:pt x="6839712" y="146304"/>
                  </a:cubicBezTo>
                  <a:lnTo>
                    <a:pt x="6839712" y="475488"/>
                  </a:lnTo>
                  <a:cubicBezTo>
                    <a:pt x="6839712" y="556260"/>
                    <a:pt x="6774180" y="621792"/>
                    <a:pt x="669340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93776" y="1420549"/>
            <a:ext cx="5129784" cy="466344"/>
            <a:chOff x="0" y="0"/>
            <a:chExt cx="6839712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0"/>
                  </a:moveTo>
                  <a:lnTo>
                    <a:pt x="6839712" y="0"/>
                  </a:lnTo>
                  <a:lnTo>
                    <a:pt x="683971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683971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 · DYNAMIC PROGRAMMING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25196" y="1789938"/>
            <a:ext cx="4594860" cy="1165860"/>
            <a:chOff x="0" y="0"/>
            <a:chExt cx="6126480" cy="15544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26480" cy="1554480"/>
            </a:xfrm>
            <a:custGeom>
              <a:avLst/>
              <a:gdLst/>
              <a:ahLst/>
              <a:cxnLst/>
              <a:rect l="l" t="t" r="r" b="b"/>
              <a:pathLst>
                <a:path w="6126480" h="1554480">
                  <a:moveTo>
                    <a:pt x="0" y="0"/>
                  </a:moveTo>
                  <a:lnTo>
                    <a:pt x="6126480" y="0"/>
                  </a:lnTo>
                  <a:lnTo>
                    <a:pt x="6126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r="-267164" b="-23195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12648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Truy vết kết quả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3776" y="3153099"/>
            <a:ext cx="6040815" cy="392487"/>
            <a:chOff x="0" y="0"/>
            <a:chExt cx="8444175" cy="548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44175" cy="548640"/>
            </a:xfrm>
            <a:custGeom>
              <a:avLst/>
              <a:gdLst/>
              <a:ahLst/>
              <a:cxnLst/>
              <a:rect l="l" t="t" r="r" b="b"/>
              <a:pathLst>
                <a:path w="8444175" h="548640">
                  <a:moveTo>
                    <a:pt x="0" y="0"/>
                  </a:moveTo>
                  <a:lnTo>
                    <a:pt x="8444175" y="0"/>
                  </a:lnTo>
                  <a:lnTo>
                    <a:pt x="844417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r="-51602" b="-40465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444175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75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TRUY VẾT (BACKTRACKING) TỪ dp[4][7] = 10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3776" y="3765042"/>
            <a:ext cx="301752" cy="301752"/>
            <a:chOff x="0" y="0"/>
            <a:chExt cx="402336" cy="4023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73836" y="3655314"/>
            <a:ext cx="3176534" cy="438912"/>
            <a:chOff x="0" y="0"/>
            <a:chExt cx="4235379" cy="5852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35379" cy="585216"/>
            </a:xfrm>
            <a:custGeom>
              <a:avLst/>
              <a:gdLst/>
              <a:ahLst/>
              <a:cxnLst/>
              <a:rect l="l" t="t" r="r" b="b"/>
              <a:pathLst>
                <a:path w="4235379" h="585216">
                  <a:moveTo>
                    <a:pt x="0" y="0"/>
                  </a:moveTo>
                  <a:lnTo>
                    <a:pt x="4235379" y="0"/>
                  </a:lnTo>
                  <a:lnTo>
                    <a:pt x="4235379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172028" b="-33361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235379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dp[4][7]=10  vs  dp[3][7]=9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3836" y="4066794"/>
            <a:ext cx="6012970" cy="438912"/>
            <a:chOff x="0" y="0"/>
            <a:chExt cx="8017293" cy="5852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017294" cy="585216"/>
            </a:xfrm>
            <a:custGeom>
              <a:avLst/>
              <a:gdLst/>
              <a:ahLst/>
              <a:cxnLst/>
              <a:rect l="l" t="t" r="r" b="b"/>
              <a:pathLst>
                <a:path w="8017294" h="585216">
                  <a:moveTo>
                    <a:pt x="0" y="0"/>
                  </a:moveTo>
                  <a:lnTo>
                    <a:pt x="8017294" y="0"/>
                  </a:lnTo>
                  <a:lnTo>
                    <a:pt x="801729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43707" b="-33361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8017293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Khác nhau → CHỌN QC4 (cost 5). Ngân sách còn 7-5=2.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3776" y="4752594"/>
            <a:ext cx="301752" cy="301752"/>
            <a:chOff x="0" y="0"/>
            <a:chExt cx="402336" cy="4023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D8E9E9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73836" y="4642866"/>
            <a:ext cx="2872058" cy="438912"/>
            <a:chOff x="0" y="0"/>
            <a:chExt cx="3829411" cy="5852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29411" cy="585216"/>
            </a:xfrm>
            <a:custGeom>
              <a:avLst/>
              <a:gdLst/>
              <a:ahLst/>
              <a:cxnLst/>
              <a:rect l="l" t="t" r="r" b="b"/>
              <a:pathLst>
                <a:path w="3829411" h="585216">
                  <a:moveTo>
                    <a:pt x="0" y="0"/>
                  </a:moveTo>
                  <a:lnTo>
                    <a:pt x="3829411" y="0"/>
                  </a:lnTo>
                  <a:lnTo>
                    <a:pt x="382941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200867" b="-33361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3829411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dp[3][2]=2  vs  dp[2][2]=2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3836" y="5054346"/>
            <a:ext cx="3176534" cy="438912"/>
            <a:chOff x="0" y="0"/>
            <a:chExt cx="4235379" cy="5852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35379" cy="585216"/>
            </a:xfrm>
            <a:custGeom>
              <a:avLst/>
              <a:gdLst/>
              <a:ahLst/>
              <a:cxnLst/>
              <a:rect l="l" t="t" r="r" b="b"/>
              <a:pathLst>
                <a:path w="4235379" h="585216">
                  <a:moveTo>
                    <a:pt x="0" y="0"/>
                  </a:moveTo>
                  <a:lnTo>
                    <a:pt x="4235379" y="0"/>
                  </a:lnTo>
                  <a:lnTo>
                    <a:pt x="4235379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172028" b="-33361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235379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Bằng nhau → BỎ QUA QC3.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93776" y="5740146"/>
            <a:ext cx="301752" cy="301752"/>
            <a:chOff x="0" y="0"/>
            <a:chExt cx="402336" cy="4023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D8E9E9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73836" y="5630418"/>
            <a:ext cx="3006485" cy="438912"/>
            <a:chOff x="0" y="0"/>
            <a:chExt cx="4008647" cy="5852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008647" cy="585216"/>
            </a:xfrm>
            <a:custGeom>
              <a:avLst/>
              <a:gdLst/>
              <a:ahLst/>
              <a:cxnLst/>
              <a:rect l="l" t="t" r="r" b="b"/>
              <a:pathLst>
                <a:path w="4008647" h="585216">
                  <a:moveTo>
                    <a:pt x="0" y="0"/>
                  </a:moveTo>
                  <a:lnTo>
                    <a:pt x="4008647" y="0"/>
                  </a:lnTo>
                  <a:lnTo>
                    <a:pt x="400864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187414" b="-33361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008647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dp[2][2]=2  vs  dp[1][2]=2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4786" y="6041898"/>
            <a:ext cx="2679757" cy="438912"/>
            <a:chOff x="0" y="0"/>
            <a:chExt cx="3573010" cy="58521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73010" cy="585216"/>
            </a:xfrm>
            <a:custGeom>
              <a:avLst/>
              <a:gdLst/>
              <a:ahLst/>
              <a:cxnLst/>
              <a:rect l="l" t="t" r="r" b="b"/>
              <a:pathLst>
                <a:path w="3573010" h="585216">
                  <a:moveTo>
                    <a:pt x="0" y="0"/>
                  </a:moveTo>
                  <a:lnTo>
                    <a:pt x="3573010" y="0"/>
                  </a:lnTo>
                  <a:lnTo>
                    <a:pt x="357301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222457" b="-33361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357301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i="1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Bằng nhau → BỎ QUA QC2</a:t>
              </a:r>
              <a:r>
                <a:rPr lang="en-US" sz="1725" i="1">
                  <a:solidFill>
                    <a:srgbClr val="5B7B8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93776" y="6727698"/>
            <a:ext cx="301752" cy="301752"/>
            <a:chOff x="0" y="0"/>
            <a:chExt cx="402336" cy="40233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73836" y="6617970"/>
            <a:ext cx="3006485" cy="438912"/>
            <a:chOff x="0" y="0"/>
            <a:chExt cx="4008647" cy="58521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08647" cy="585216"/>
            </a:xfrm>
            <a:custGeom>
              <a:avLst/>
              <a:gdLst/>
              <a:ahLst/>
              <a:cxnLst/>
              <a:rect l="l" t="t" r="r" b="b"/>
              <a:pathLst>
                <a:path w="4008647" h="585216">
                  <a:moveTo>
                    <a:pt x="0" y="0"/>
                  </a:moveTo>
                  <a:lnTo>
                    <a:pt x="4008647" y="0"/>
                  </a:lnTo>
                  <a:lnTo>
                    <a:pt x="400864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187414" b="-33361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4008647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dp[1][2]=2  vs  dp[0][2]=0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73836" y="7029450"/>
            <a:ext cx="3625236" cy="438912"/>
            <a:chOff x="0" y="0"/>
            <a:chExt cx="4833648" cy="5852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33648" cy="585216"/>
            </a:xfrm>
            <a:custGeom>
              <a:avLst/>
              <a:gdLst/>
              <a:ahLst/>
              <a:cxnLst/>
              <a:rect l="l" t="t" r="r" b="b"/>
              <a:pathLst>
                <a:path w="4833648" h="585216">
                  <a:moveTo>
                    <a:pt x="0" y="0"/>
                  </a:moveTo>
                  <a:lnTo>
                    <a:pt x="4833648" y="0"/>
                  </a:lnTo>
                  <a:lnTo>
                    <a:pt x="483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611" r="-138359" b="-33361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833648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Khác nhau → CHỌN QC1 (cost 1).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93776" y="7728966"/>
            <a:ext cx="6376375" cy="987552"/>
            <a:chOff x="0" y="0"/>
            <a:chExt cx="8501833" cy="131673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501834" cy="1316736"/>
            </a:xfrm>
            <a:custGeom>
              <a:avLst/>
              <a:gdLst/>
              <a:ahLst/>
              <a:cxnLst/>
              <a:rect l="l" t="t" r="r" b="b"/>
              <a:pathLst>
                <a:path w="8501834" h="1316736">
                  <a:moveTo>
                    <a:pt x="0" y="146304"/>
                  </a:moveTo>
                  <a:cubicBezTo>
                    <a:pt x="0" y="65532"/>
                    <a:pt x="46159" y="0"/>
                    <a:pt x="103053" y="0"/>
                  </a:cubicBezTo>
                  <a:lnTo>
                    <a:pt x="8398780" y="0"/>
                  </a:lnTo>
                  <a:cubicBezTo>
                    <a:pt x="8455674" y="0"/>
                    <a:pt x="8501834" y="65532"/>
                    <a:pt x="8501834" y="146304"/>
                  </a:cubicBezTo>
                  <a:lnTo>
                    <a:pt x="8501834" y="1170432"/>
                  </a:lnTo>
                  <a:cubicBezTo>
                    <a:pt x="8501834" y="1251204"/>
                    <a:pt x="8455674" y="1316736"/>
                    <a:pt x="8398780" y="1316736"/>
                  </a:cubicBezTo>
                  <a:lnTo>
                    <a:pt x="103053" y="1316736"/>
                  </a:lnTo>
                  <a:cubicBezTo>
                    <a:pt x="46159" y="1316736"/>
                    <a:pt x="0" y="1251204"/>
                    <a:pt x="0" y="1170432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768096" y="7728966"/>
            <a:ext cx="6102055" cy="987552"/>
            <a:chOff x="0" y="0"/>
            <a:chExt cx="8136073" cy="131673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36072" cy="1316736"/>
            </a:xfrm>
            <a:custGeom>
              <a:avLst/>
              <a:gdLst/>
              <a:ahLst/>
              <a:cxnLst/>
              <a:rect l="l" t="t" r="r" b="b"/>
              <a:pathLst>
                <a:path w="8136072" h="1316736">
                  <a:moveTo>
                    <a:pt x="0" y="0"/>
                  </a:moveTo>
                  <a:lnTo>
                    <a:pt x="8136072" y="0"/>
                  </a:lnTo>
                  <a:lnTo>
                    <a:pt x="813607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579" r="-41680" b="-120579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8136073" cy="1354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quả: Chọn QC1 và QC4  →  Tổng lợi nhuận = 10, tổng chi phí = 6 ≤ Budget 7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25196" y="10376154"/>
            <a:ext cx="10972800" cy="411480"/>
            <a:chOff x="0" y="0"/>
            <a:chExt cx="14630400" cy="5486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DYNAMIC PROGRAMMING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969539" y="10376154"/>
            <a:ext cx="1371600" cy="411480"/>
            <a:chOff x="0" y="0"/>
            <a:chExt cx="1828800" cy="5486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09 / 15</a:t>
              </a:r>
            </a:p>
          </p:txBody>
        </p:sp>
      </p:grpSp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7287916" y="5285232"/>
          <a:ext cx="10823808" cy="3543300"/>
        </p:xfrm>
        <a:graphic>
          <a:graphicData uri="http://schemas.openxmlformats.org/drawingml/2006/table">
            <a:tbl>
              <a:tblPr/>
              <a:tblGrid>
                <a:gridCol w="110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50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 \ w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i=3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i=4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B2B3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9" name="Group 59"/>
          <p:cNvGrpSpPr/>
          <p:nvPr/>
        </p:nvGrpSpPr>
        <p:grpSpPr>
          <a:xfrm>
            <a:off x="7485340" y="1867448"/>
            <a:ext cx="5486400" cy="390199"/>
            <a:chOff x="0" y="0"/>
            <a:chExt cx="7315200" cy="52026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315200" cy="520266"/>
            </a:xfrm>
            <a:custGeom>
              <a:avLst/>
              <a:gdLst/>
              <a:ahLst/>
              <a:cxnLst/>
              <a:rect l="l" t="t" r="r" b="b"/>
              <a:pathLst>
                <a:path w="7315200" h="520266">
                  <a:moveTo>
                    <a:pt x="0" y="0"/>
                  </a:moveTo>
                  <a:lnTo>
                    <a:pt x="7315200" y="0"/>
                  </a:lnTo>
                  <a:lnTo>
                    <a:pt x="731520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4757" b="-22318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731520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DỮ LIỆU ĐẦU VÀO</a:t>
              </a:r>
            </a:p>
          </p:txBody>
        </p:sp>
      </p:grpSp>
      <p:graphicFrame>
        <p:nvGraphicFramePr>
          <p:cNvPr id="62" name="Table 62"/>
          <p:cNvGraphicFramePr>
            <a:graphicFrameLocks noGrp="1"/>
          </p:cNvGraphicFramePr>
          <p:nvPr/>
        </p:nvGraphicFramePr>
        <p:xfrm>
          <a:off x="7287916" y="2333803"/>
          <a:ext cx="5082009" cy="2875275"/>
        </p:xfrm>
        <a:graphic>
          <a:graphicData uri="http://schemas.openxmlformats.org/drawingml/2006/table">
            <a:tbl>
              <a:tblPr/>
              <a:tblGrid>
                <a:gridCol w="2169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055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Chiến dịch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Cost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Profit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055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055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055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QC3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055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3" name="Group 63"/>
          <p:cNvGrpSpPr/>
          <p:nvPr/>
        </p:nvGrpSpPr>
        <p:grpSpPr>
          <a:xfrm>
            <a:off x="644652" y="2760698"/>
            <a:ext cx="4087990" cy="390199"/>
            <a:chOff x="0" y="0"/>
            <a:chExt cx="5450653" cy="52026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450653" cy="520266"/>
            </a:xfrm>
            <a:custGeom>
              <a:avLst/>
              <a:gdLst/>
              <a:ahLst/>
              <a:cxnLst/>
              <a:rect l="l" t="t" r="r" b="b"/>
              <a:pathLst>
                <a:path w="5450653" h="520266">
                  <a:moveTo>
                    <a:pt x="0" y="0"/>
                  </a:moveTo>
                  <a:lnTo>
                    <a:pt x="5450653" y="0"/>
                  </a:lnTo>
                  <a:lnTo>
                    <a:pt x="5450653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420" r="-17431" b="-21002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5450653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Ngân sách (Budget) = 7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25196" y="1420549"/>
            <a:ext cx="5129784" cy="466344"/>
            <a:chOff x="0" y="0"/>
            <a:chExt cx="6839712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93408" y="0"/>
                  </a:lnTo>
                  <a:cubicBezTo>
                    <a:pt x="6774180" y="0"/>
                    <a:pt x="6839712" y="65532"/>
                    <a:pt x="6839712" y="146304"/>
                  </a:cubicBezTo>
                  <a:lnTo>
                    <a:pt x="6839712" y="475488"/>
                  </a:lnTo>
                  <a:cubicBezTo>
                    <a:pt x="6839712" y="556260"/>
                    <a:pt x="6774180" y="621792"/>
                    <a:pt x="669340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93776" y="1420549"/>
            <a:ext cx="5129784" cy="466344"/>
            <a:chOff x="0" y="0"/>
            <a:chExt cx="6839712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39712" cy="621792"/>
            </a:xfrm>
            <a:custGeom>
              <a:avLst/>
              <a:gdLst/>
              <a:ahLst/>
              <a:cxnLst/>
              <a:rect l="l" t="t" r="r" b="b"/>
              <a:pathLst>
                <a:path w="6839712" h="621792">
                  <a:moveTo>
                    <a:pt x="0" y="0"/>
                  </a:moveTo>
                  <a:lnTo>
                    <a:pt x="6839712" y="0"/>
                  </a:lnTo>
                  <a:lnTo>
                    <a:pt x="683971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83971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 · DYNAMIC PROGRAMMING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5196" y="1789938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Độ phức tạp &amp; rủi ro của bài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3776" y="3765042"/>
            <a:ext cx="301752" cy="301752"/>
            <a:chOff x="0" y="0"/>
            <a:chExt cx="402336" cy="4023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93776" y="4752594"/>
            <a:ext cx="301752" cy="301752"/>
            <a:chOff x="0" y="0"/>
            <a:chExt cx="402336" cy="4023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D8E9E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93776" y="5740146"/>
            <a:ext cx="301752" cy="301752"/>
            <a:chOff x="0" y="0"/>
            <a:chExt cx="402336" cy="4023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D8E9E9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93776" y="6727698"/>
            <a:ext cx="301752" cy="301752"/>
            <a:chOff x="0" y="0"/>
            <a:chExt cx="402336" cy="4023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402336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02672" y="3663910"/>
            <a:ext cx="6858000" cy="411480"/>
            <a:chOff x="0" y="0"/>
            <a:chExt cx="914400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1440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75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ĐỘ PHỨC TẠP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5528" y="4205406"/>
            <a:ext cx="7146607" cy="1385888"/>
            <a:chOff x="0" y="0"/>
            <a:chExt cx="9528810" cy="18478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28810" cy="1847850"/>
            </a:xfrm>
            <a:custGeom>
              <a:avLst/>
              <a:gdLst/>
              <a:ahLst/>
              <a:cxnLst/>
              <a:rect l="l" t="t" r="r" b="b"/>
              <a:pathLst>
                <a:path w="9528810" h="184785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9380982" y="0"/>
                  </a:lnTo>
                  <a:cubicBezTo>
                    <a:pt x="9462643" y="0"/>
                    <a:pt x="9528810" y="66167"/>
                    <a:pt x="9528810" y="147828"/>
                  </a:cubicBezTo>
                  <a:lnTo>
                    <a:pt x="9528810" y="1700022"/>
                  </a:lnTo>
                  <a:cubicBezTo>
                    <a:pt x="9528810" y="1781683"/>
                    <a:pt x="9462643" y="1847850"/>
                    <a:pt x="9380982" y="1847850"/>
                  </a:cubicBezTo>
                  <a:lnTo>
                    <a:pt x="147828" y="1847850"/>
                  </a:lnTo>
                  <a:cubicBezTo>
                    <a:pt x="66167" y="1847850"/>
                    <a:pt x="0" y="1781683"/>
                    <a:pt x="0" y="1700022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76992" y="4514302"/>
            <a:ext cx="768096" cy="768096"/>
            <a:chOff x="0" y="0"/>
            <a:chExt cx="1024128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1024128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176842" y="4614153"/>
            <a:ext cx="568395" cy="568395"/>
            <a:chOff x="0" y="0"/>
            <a:chExt cx="757860" cy="757860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757809" cy="757809"/>
            </a:xfrm>
            <a:custGeom>
              <a:avLst/>
              <a:gdLst/>
              <a:ahLst/>
              <a:cxnLst/>
              <a:rect l="l" t="t" r="r" b="b"/>
              <a:pathLst>
                <a:path w="757809" h="757809">
                  <a:moveTo>
                    <a:pt x="0" y="0"/>
                  </a:moveTo>
                  <a:lnTo>
                    <a:pt x="757809" y="0"/>
                  </a:lnTo>
                  <a:lnTo>
                    <a:pt x="757809" y="757809"/>
                  </a:lnTo>
                  <a:lnTo>
                    <a:pt x="0" y="757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6" b="-6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2105692" y="4377142"/>
            <a:ext cx="2743200" cy="411480"/>
            <a:chOff x="0" y="0"/>
            <a:chExt cx="365760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57600" cy="548640"/>
            </a:xfrm>
            <a:custGeom>
              <a:avLst/>
              <a:gdLst/>
              <a:ahLst/>
              <a:cxnLst/>
              <a:rect l="l" t="t" r="r" b="b"/>
              <a:pathLst>
                <a:path w="3657600" h="54864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Thời gian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105692" y="4761190"/>
            <a:ext cx="2743200" cy="617220"/>
            <a:chOff x="0" y="0"/>
            <a:chExt cx="3657600" cy="8229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57600" cy="822960"/>
            </a:xfrm>
            <a:custGeom>
              <a:avLst/>
              <a:gdLst/>
              <a:ahLst/>
              <a:cxnLst/>
              <a:rect l="l" t="t" r="r" b="b"/>
              <a:pathLst>
                <a:path w="3657600" h="82296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365760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O(n × W)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17472" y="4212550"/>
            <a:ext cx="2880360" cy="1371600"/>
            <a:chOff x="0" y="0"/>
            <a:chExt cx="3840480" cy="1828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40480" cy="1828800"/>
            </a:xfrm>
            <a:custGeom>
              <a:avLst/>
              <a:gdLst/>
              <a:ahLst/>
              <a:cxnLst/>
              <a:rect l="l" t="t" r="r" b="b"/>
              <a:pathLst>
                <a:path w="3840480" h="182880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r="-1109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84048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 i="1">
                  <a:solidFill>
                    <a:srgbClr val="0B2B3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Pseudo-polynomial — n chiến dịch, W là ngân sách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95528" y="5782746"/>
            <a:ext cx="7146607" cy="1385888"/>
            <a:chOff x="0" y="0"/>
            <a:chExt cx="9528810" cy="18478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528810" cy="1847850"/>
            </a:xfrm>
            <a:custGeom>
              <a:avLst/>
              <a:gdLst/>
              <a:ahLst/>
              <a:cxnLst/>
              <a:rect l="l" t="t" r="r" b="b"/>
              <a:pathLst>
                <a:path w="9528810" h="184785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9380982" y="0"/>
                  </a:lnTo>
                  <a:cubicBezTo>
                    <a:pt x="9462643" y="0"/>
                    <a:pt x="9528810" y="66167"/>
                    <a:pt x="9528810" y="147828"/>
                  </a:cubicBezTo>
                  <a:lnTo>
                    <a:pt x="9528810" y="1700022"/>
                  </a:lnTo>
                  <a:cubicBezTo>
                    <a:pt x="9528810" y="1781683"/>
                    <a:pt x="9462643" y="1847850"/>
                    <a:pt x="9380982" y="1847850"/>
                  </a:cubicBezTo>
                  <a:lnTo>
                    <a:pt x="147828" y="1847850"/>
                  </a:lnTo>
                  <a:cubicBezTo>
                    <a:pt x="66167" y="1847850"/>
                    <a:pt x="0" y="1781683"/>
                    <a:pt x="0" y="1700022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76992" y="6091642"/>
            <a:ext cx="768096" cy="768096"/>
            <a:chOff x="0" y="0"/>
            <a:chExt cx="1024128" cy="1024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1024128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176842" y="6191493"/>
            <a:ext cx="568395" cy="568395"/>
            <a:chOff x="0" y="0"/>
            <a:chExt cx="757860" cy="757860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757809" cy="757809"/>
            </a:xfrm>
            <a:custGeom>
              <a:avLst/>
              <a:gdLst/>
              <a:ahLst/>
              <a:cxnLst/>
              <a:rect l="l" t="t" r="r" b="b"/>
              <a:pathLst>
                <a:path w="757809" h="757809">
                  <a:moveTo>
                    <a:pt x="0" y="0"/>
                  </a:moveTo>
                  <a:lnTo>
                    <a:pt x="757809" y="0"/>
                  </a:lnTo>
                  <a:lnTo>
                    <a:pt x="757809" y="757809"/>
                  </a:lnTo>
                  <a:lnTo>
                    <a:pt x="0" y="757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2105692" y="5954482"/>
            <a:ext cx="2743200" cy="411480"/>
            <a:chOff x="0" y="0"/>
            <a:chExt cx="365760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7600" cy="548640"/>
            </a:xfrm>
            <a:custGeom>
              <a:avLst/>
              <a:gdLst/>
              <a:ahLst/>
              <a:cxnLst/>
              <a:rect l="l" t="t" r="r" b="b"/>
              <a:pathLst>
                <a:path w="3657600" h="54864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Không gian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105692" y="6338530"/>
            <a:ext cx="2743200" cy="617220"/>
            <a:chOff x="0" y="0"/>
            <a:chExt cx="3657600" cy="8229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657600" cy="822960"/>
            </a:xfrm>
            <a:custGeom>
              <a:avLst/>
              <a:gdLst/>
              <a:ahLst/>
              <a:cxnLst/>
              <a:rect l="l" t="t" r="r" b="b"/>
              <a:pathLst>
                <a:path w="3657600" h="82296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365760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O(n × W)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17472" y="5789890"/>
            <a:ext cx="2880360" cy="1371600"/>
            <a:chOff x="0" y="0"/>
            <a:chExt cx="3840480" cy="1828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840480" cy="1828800"/>
            </a:xfrm>
            <a:custGeom>
              <a:avLst/>
              <a:gdLst/>
              <a:ahLst/>
              <a:cxnLst/>
              <a:rect l="l" t="t" r="r" b="b"/>
              <a:pathLst>
                <a:path w="3840480" h="182880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r="-1109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384048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 i="1">
                  <a:solidFill>
                    <a:srgbClr val="0B2B3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Cấp phát toàn bộ ma trận 2 chiều trong bộ nhớ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426868" y="4197096"/>
            <a:ext cx="7132320" cy="3086100"/>
            <a:chOff x="0" y="0"/>
            <a:chExt cx="9509760" cy="4114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509761" cy="4114800"/>
            </a:xfrm>
            <a:custGeom>
              <a:avLst/>
              <a:gdLst/>
              <a:ahLst/>
              <a:cxnLst/>
              <a:rect l="l" t="t" r="r" b="b"/>
              <a:pathLst>
                <a:path w="9509761" h="4114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363456" y="0"/>
                  </a:lnTo>
                  <a:cubicBezTo>
                    <a:pt x="9444228" y="0"/>
                    <a:pt x="9509761" y="65532"/>
                    <a:pt x="9509761" y="146304"/>
                  </a:cubicBezTo>
                  <a:lnTo>
                    <a:pt x="9509761" y="3968496"/>
                  </a:lnTo>
                  <a:cubicBezTo>
                    <a:pt x="9509761" y="4049268"/>
                    <a:pt x="9444228" y="4114800"/>
                    <a:pt x="936345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742336" y="4471416"/>
            <a:ext cx="685800" cy="685800"/>
            <a:chOff x="0" y="0"/>
            <a:chExt cx="91440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9831490" y="4560570"/>
            <a:ext cx="507492" cy="507492"/>
            <a:chOff x="0" y="0"/>
            <a:chExt cx="676656" cy="676656"/>
          </a:xfrm>
        </p:grpSpPr>
        <p:sp>
          <p:nvSpPr>
            <p:cNvPr id="59" name="Freeform 59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10661308" y="4471416"/>
            <a:ext cx="5623560" cy="548640"/>
            <a:chOff x="0" y="0"/>
            <a:chExt cx="7498080" cy="731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498080" cy="731520"/>
            </a:xfrm>
            <a:custGeom>
              <a:avLst/>
              <a:gdLst/>
              <a:ahLst/>
              <a:cxnLst/>
              <a:rect l="l" t="t" r="r" b="b"/>
              <a:pathLst>
                <a:path w="7498080" h="73152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721" b="-149721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74980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RỦI RO CỦA BÀI TOÁN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742336" y="5225796"/>
            <a:ext cx="6515100" cy="1303020"/>
            <a:chOff x="0" y="0"/>
            <a:chExt cx="8686800" cy="17373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686800" cy="1737360"/>
            </a:xfrm>
            <a:custGeom>
              <a:avLst/>
              <a:gdLst/>
              <a:ahLst/>
              <a:cxnLst/>
              <a:rect l="l" t="t" r="r" b="b"/>
              <a:pathLst>
                <a:path w="8686800" h="1737360">
                  <a:moveTo>
                    <a:pt x="0" y="0"/>
                  </a:moveTo>
                  <a:lnTo>
                    <a:pt x="8686800" y="0"/>
                  </a:lnTo>
                  <a:lnTo>
                    <a:pt x="86868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8686800" cy="1784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Nếu Budget không phải là 7 mà là hàng tỷ đồng (hệ thống đấu thầu quy mô lớn), ma trận 2 chiều sẽ gây tràn bộ nhớ (Out of Memory) trước khi kịp tính toán.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742336" y="6391656"/>
            <a:ext cx="6515100" cy="822960"/>
            <a:chOff x="0" y="0"/>
            <a:chExt cx="8686800" cy="10972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686800" cy="1097280"/>
            </a:xfrm>
            <a:custGeom>
              <a:avLst/>
              <a:gdLst/>
              <a:ahLst/>
              <a:cxnLst/>
              <a:rect l="l" t="t" r="r" b="b"/>
              <a:pathLst>
                <a:path w="8686800" h="1097280">
                  <a:moveTo>
                    <a:pt x="0" y="0"/>
                  </a:moveTo>
                  <a:lnTo>
                    <a:pt x="8686800" y="0"/>
                  </a:lnTo>
                  <a:lnTo>
                    <a:pt x="868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256" b="-10425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868680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 i="1">
                  <a:solidFill>
                    <a:srgbClr val="00A89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Giải pháp: thu gọn ma trận thành mảng 1 chiều O(W), duyệt w theo chiều lùi (từ W về cost[i]) để tránh ghi đè sai.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25196" y="10376154"/>
            <a:ext cx="10972800" cy="411480"/>
            <a:chOff x="0" y="0"/>
            <a:chExt cx="1463040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DYNAMIC PROGRAMMING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969539" y="10376154"/>
            <a:ext cx="1371600" cy="411480"/>
            <a:chOff x="0" y="0"/>
            <a:chExt cx="1828800" cy="54864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09 / 15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2978" y="1323594"/>
            <a:ext cx="4574286" cy="466344"/>
            <a:chOff x="0" y="0"/>
            <a:chExt cx="6099048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99048" cy="621792"/>
            </a:xfrm>
            <a:custGeom>
              <a:avLst/>
              <a:gdLst/>
              <a:ahLst/>
              <a:cxnLst/>
              <a:rect l="l" t="t" r="r" b="b"/>
              <a:pathLst>
                <a:path w="6099048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952744" y="0"/>
                  </a:lnTo>
                  <a:cubicBezTo>
                    <a:pt x="6033516" y="0"/>
                    <a:pt x="6099048" y="65532"/>
                    <a:pt x="6099048" y="146304"/>
                  </a:cubicBezTo>
                  <a:lnTo>
                    <a:pt x="6099048" y="475488"/>
                  </a:lnTo>
                  <a:cubicBezTo>
                    <a:pt x="6099048" y="556260"/>
                    <a:pt x="6033516" y="621792"/>
                    <a:pt x="5952744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62978" y="1323594"/>
            <a:ext cx="4574286" cy="466344"/>
            <a:chOff x="0" y="0"/>
            <a:chExt cx="6099048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99048" cy="621792"/>
            </a:xfrm>
            <a:custGeom>
              <a:avLst/>
              <a:gdLst/>
              <a:ahLst/>
              <a:cxnLst/>
              <a:rect l="l" t="t" r="r" b="b"/>
              <a:pathLst>
                <a:path w="6099048" h="621792">
                  <a:moveTo>
                    <a:pt x="0" y="0"/>
                  </a:moveTo>
                  <a:lnTo>
                    <a:pt x="6099048" y="0"/>
                  </a:lnTo>
                  <a:lnTo>
                    <a:pt x="609904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125" b="-14112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099048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49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 · GREEDY ALGORITHM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2978" y="1872234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Tư tưởng thuật toán &amp; mã giả (Pseudocode)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558" y="3216402"/>
            <a:ext cx="9052560" cy="1645920"/>
            <a:chOff x="0" y="0"/>
            <a:chExt cx="12070080" cy="2194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70080" cy="2194560"/>
            </a:xfrm>
            <a:custGeom>
              <a:avLst/>
              <a:gdLst/>
              <a:ahLst/>
              <a:cxnLst/>
              <a:rect l="l" t="t" r="r" b="b"/>
              <a:pathLst>
                <a:path w="12070080" h="2194560">
                  <a:moveTo>
                    <a:pt x="0" y="0"/>
                  </a:moveTo>
                  <a:lnTo>
                    <a:pt x="12070080" y="0"/>
                  </a:lnTo>
                  <a:lnTo>
                    <a:pt x="120700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2070080" cy="2251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16"/>
                </a:lnSpc>
              </a:pPr>
              <a:r>
                <a:rPr lang="en-US" sz="2025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Tiêu chí tham lam: </a:t>
              </a:r>
              <a:r>
                <a:rPr lang="en-US" sz="2025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tỷ lệ lợi nhuận trên chi phí </a:t>
              </a:r>
              <a:r>
                <a:rPr lang="en-US" sz="2025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Ratio = Profit / Cost</a:t>
              </a:r>
              <a:r>
                <a:rPr lang="en-US" sz="2025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Quảng cáo có tỷ lệ sinh lời trên mỗi đồng chi phí càng cao càng được ưu tiên chọn trước — không quay lui (No Backtracking).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1558" y="5068062"/>
            <a:ext cx="9052560" cy="1234440"/>
            <a:chOff x="0" y="0"/>
            <a:chExt cx="12070080" cy="1645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70080" cy="1645920"/>
            </a:xfrm>
            <a:custGeom>
              <a:avLst/>
              <a:gdLst/>
              <a:ahLst/>
              <a:cxnLst/>
              <a:rect l="l" t="t" r="r" b="b"/>
              <a:pathLst>
                <a:path w="12070080" h="1645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1499616"/>
                  </a:lnTo>
                  <a:cubicBezTo>
                    <a:pt x="12070080" y="1580388"/>
                    <a:pt x="12004548" y="1645920"/>
                    <a:pt x="1192377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05878" y="5314950"/>
            <a:ext cx="740664" cy="740664"/>
            <a:chOff x="0" y="0"/>
            <a:chExt cx="987552" cy="9875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7552" cy="987552"/>
            </a:xfrm>
            <a:custGeom>
              <a:avLst/>
              <a:gdLst/>
              <a:ahLst/>
              <a:cxnLst/>
              <a:rect l="l" t="t" r="r" b="b"/>
              <a:pathLst>
                <a:path w="987552" h="987552">
                  <a:moveTo>
                    <a:pt x="0" y="0"/>
                  </a:moveTo>
                  <a:lnTo>
                    <a:pt x="987552" y="987552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02157" y="5411238"/>
            <a:ext cx="548088" cy="548088"/>
            <a:chOff x="0" y="0"/>
            <a:chExt cx="730783" cy="730783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30758" cy="730758"/>
            </a:xfrm>
            <a:custGeom>
              <a:avLst/>
              <a:gdLst/>
              <a:ahLst/>
              <a:cxnLst/>
              <a:rect l="l" t="t" r="r" b="b"/>
              <a:pathLst>
                <a:path w="730758" h="730758">
                  <a:moveTo>
                    <a:pt x="0" y="0"/>
                  </a:moveTo>
                  <a:lnTo>
                    <a:pt x="730758" y="0"/>
                  </a:lnTo>
                  <a:lnTo>
                    <a:pt x="730758" y="730758"/>
                  </a:lnTo>
                  <a:lnTo>
                    <a:pt x="0" y="730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3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2034578" y="5205222"/>
            <a:ext cx="2057400" cy="411480"/>
            <a:chOff x="0" y="0"/>
            <a:chExt cx="274320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43200" cy="548640"/>
            </a:xfrm>
            <a:custGeom>
              <a:avLst/>
              <a:gdLst/>
              <a:ahLst/>
              <a:cxnLst/>
              <a:rect l="l" t="t" r="r" b="b"/>
              <a:pathLst>
                <a:path w="2743200" h="54864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2743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Bước 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34578" y="5589270"/>
            <a:ext cx="7543800" cy="658368"/>
            <a:chOff x="0" y="0"/>
            <a:chExt cx="10058400" cy="87782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058400" cy="877824"/>
            </a:xfrm>
            <a:custGeom>
              <a:avLst/>
              <a:gdLst/>
              <a:ahLst/>
              <a:cxnLst/>
              <a:rect l="l" t="t" r="r" b="b"/>
              <a:pathLst>
                <a:path w="10058400" h="877824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266" b="-17326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1005840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57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Tính Ratio = Profit / Cost cho mọi quảng cáo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31558" y="6508242"/>
            <a:ext cx="9052560" cy="1234440"/>
            <a:chOff x="0" y="0"/>
            <a:chExt cx="12070080" cy="16459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070080" cy="1645920"/>
            </a:xfrm>
            <a:custGeom>
              <a:avLst/>
              <a:gdLst/>
              <a:ahLst/>
              <a:cxnLst/>
              <a:rect l="l" t="t" r="r" b="b"/>
              <a:pathLst>
                <a:path w="12070080" h="1645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1499616"/>
                  </a:lnTo>
                  <a:cubicBezTo>
                    <a:pt x="12070080" y="1580388"/>
                    <a:pt x="12004548" y="1645920"/>
                    <a:pt x="1192377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005878" y="6755130"/>
            <a:ext cx="740664" cy="740664"/>
            <a:chOff x="0" y="0"/>
            <a:chExt cx="987552" cy="9875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87552" cy="987552"/>
            </a:xfrm>
            <a:custGeom>
              <a:avLst/>
              <a:gdLst/>
              <a:ahLst/>
              <a:cxnLst/>
              <a:rect l="l" t="t" r="r" b="b"/>
              <a:pathLst>
                <a:path w="987552" h="987552">
                  <a:moveTo>
                    <a:pt x="0" y="0"/>
                  </a:moveTo>
                  <a:lnTo>
                    <a:pt x="987552" y="987552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02157" y="6851418"/>
            <a:ext cx="548088" cy="548088"/>
            <a:chOff x="0" y="0"/>
            <a:chExt cx="730783" cy="730783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730758" cy="730758"/>
            </a:xfrm>
            <a:custGeom>
              <a:avLst/>
              <a:gdLst/>
              <a:ahLst/>
              <a:cxnLst/>
              <a:rect l="l" t="t" r="r" b="b"/>
              <a:pathLst>
                <a:path w="730758" h="730758">
                  <a:moveTo>
                    <a:pt x="0" y="0"/>
                  </a:moveTo>
                  <a:lnTo>
                    <a:pt x="730758" y="0"/>
                  </a:lnTo>
                  <a:lnTo>
                    <a:pt x="730758" y="730758"/>
                  </a:lnTo>
                  <a:lnTo>
                    <a:pt x="0" y="730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2034578" y="6645402"/>
            <a:ext cx="2057400" cy="411480"/>
            <a:chOff x="0" y="0"/>
            <a:chExt cx="274320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43200" cy="548640"/>
            </a:xfrm>
            <a:custGeom>
              <a:avLst/>
              <a:gdLst/>
              <a:ahLst/>
              <a:cxnLst/>
              <a:rect l="l" t="t" r="r" b="b"/>
              <a:pathLst>
                <a:path w="2743200" h="54864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2743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Bước 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34578" y="7029450"/>
            <a:ext cx="7543800" cy="658368"/>
            <a:chOff x="0" y="0"/>
            <a:chExt cx="10058400" cy="87782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058400" cy="877824"/>
            </a:xfrm>
            <a:custGeom>
              <a:avLst/>
              <a:gdLst/>
              <a:ahLst/>
              <a:cxnLst/>
              <a:rect l="l" t="t" r="r" b="b"/>
              <a:pathLst>
                <a:path w="10058400" h="877824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266" b="-17326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005840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57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Sắp xếp giảm dần theo Ratio (trùng thì ưu tiên Profit cao hơn)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1558" y="7948422"/>
            <a:ext cx="9052560" cy="1234440"/>
            <a:chOff x="0" y="0"/>
            <a:chExt cx="12070080" cy="16459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070080" cy="1645920"/>
            </a:xfrm>
            <a:custGeom>
              <a:avLst/>
              <a:gdLst/>
              <a:ahLst/>
              <a:cxnLst/>
              <a:rect l="l" t="t" r="r" b="b"/>
              <a:pathLst>
                <a:path w="12070080" h="1645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1499616"/>
                  </a:lnTo>
                  <a:cubicBezTo>
                    <a:pt x="12070080" y="1580388"/>
                    <a:pt x="12004548" y="1645920"/>
                    <a:pt x="1192377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FCEFD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05878" y="8195310"/>
            <a:ext cx="740664" cy="740664"/>
            <a:chOff x="0" y="0"/>
            <a:chExt cx="987552" cy="9875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87552" cy="987552"/>
            </a:xfrm>
            <a:custGeom>
              <a:avLst/>
              <a:gdLst/>
              <a:ahLst/>
              <a:cxnLst/>
              <a:rect l="l" t="t" r="r" b="b"/>
              <a:pathLst>
                <a:path w="987552" h="987552">
                  <a:moveTo>
                    <a:pt x="0" y="0"/>
                  </a:moveTo>
                  <a:lnTo>
                    <a:pt x="987552" y="987552"/>
                  </a:lnTo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02157" y="8291598"/>
            <a:ext cx="548088" cy="548088"/>
            <a:chOff x="0" y="0"/>
            <a:chExt cx="730783" cy="730783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730758" cy="730758"/>
            </a:xfrm>
            <a:custGeom>
              <a:avLst/>
              <a:gdLst/>
              <a:ahLst/>
              <a:cxnLst/>
              <a:rect l="l" t="t" r="r" b="b"/>
              <a:pathLst>
                <a:path w="730758" h="730758">
                  <a:moveTo>
                    <a:pt x="0" y="0"/>
                  </a:moveTo>
                  <a:lnTo>
                    <a:pt x="730758" y="0"/>
                  </a:lnTo>
                  <a:lnTo>
                    <a:pt x="730758" y="730758"/>
                  </a:lnTo>
                  <a:lnTo>
                    <a:pt x="0" y="730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" b="-3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2034578" y="8085582"/>
            <a:ext cx="2057400" cy="411480"/>
            <a:chOff x="0" y="0"/>
            <a:chExt cx="2743200" cy="5486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743200" cy="548640"/>
            </a:xfrm>
            <a:custGeom>
              <a:avLst/>
              <a:gdLst/>
              <a:ahLst/>
              <a:cxnLst/>
              <a:rect l="l" t="t" r="r" b="b"/>
              <a:pathLst>
                <a:path w="2743200" h="54864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7432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Bước 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034578" y="8469630"/>
            <a:ext cx="7543800" cy="658368"/>
            <a:chOff x="0" y="0"/>
            <a:chExt cx="10058400" cy="87782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058400" cy="877824"/>
            </a:xfrm>
            <a:custGeom>
              <a:avLst/>
              <a:gdLst/>
              <a:ahLst/>
              <a:cxnLst/>
              <a:rect l="l" t="t" r="r" b="b"/>
              <a:pathLst>
                <a:path w="10058400" h="877824">
                  <a:moveTo>
                    <a:pt x="0" y="0"/>
                  </a:moveTo>
                  <a:lnTo>
                    <a:pt x="10058400" y="0"/>
                  </a:lnTo>
                  <a:lnTo>
                    <a:pt x="1005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266" b="-17326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1005840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57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Duyệt tuần tự, chọn nếu current_cost + Cost ≤ Budget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332758" y="3216402"/>
            <a:ext cx="7200900" cy="7063740"/>
            <a:chOff x="0" y="0"/>
            <a:chExt cx="9601200" cy="94183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601200" cy="9418320"/>
            </a:xfrm>
            <a:custGeom>
              <a:avLst/>
              <a:gdLst/>
              <a:ahLst/>
              <a:cxnLst/>
              <a:rect l="l" t="t" r="r" b="b"/>
              <a:pathLst>
                <a:path w="9601200" h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418320" y="0"/>
                  </a:lnTo>
                  <a:cubicBezTo>
                    <a:pt x="9519285" y="0"/>
                    <a:pt x="9601200" y="81915"/>
                    <a:pt x="9601200" y="182880"/>
                  </a:cubicBezTo>
                  <a:lnTo>
                    <a:pt x="9601200" y="9235440"/>
                  </a:lnTo>
                  <a:cubicBezTo>
                    <a:pt x="9601200" y="9336405"/>
                    <a:pt x="9519285" y="9418320"/>
                    <a:pt x="9418320" y="9418320"/>
                  </a:cubicBezTo>
                  <a:lnTo>
                    <a:pt x="182880" y="9418320"/>
                  </a:lnTo>
                  <a:cubicBezTo>
                    <a:pt x="81915" y="9418320"/>
                    <a:pt x="0" y="9336405"/>
                    <a:pt x="0" y="9235440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0675658" y="3490722"/>
            <a:ext cx="6583680" cy="685800"/>
            <a:chOff x="0" y="0"/>
            <a:chExt cx="877824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778240" cy="914400"/>
            </a:xfrm>
            <a:custGeom>
              <a:avLst/>
              <a:gdLst/>
              <a:ahLst/>
              <a:cxnLst/>
              <a:rect l="l" t="t" r="r" b="b"/>
              <a:pathLst>
                <a:path w="8778240" h="914400">
                  <a:moveTo>
                    <a:pt x="0" y="0"/>
                  </a:moveTo>
                  <a:lnTo>
                    <a:pt x="8778240" y="0"/>
                  </a:lnTo>
                  <a:lnTo>
                    <a:pt x="8778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87782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 b="1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MÃ GIẢ — Greedy_Ads_Selection(Ads, Budget)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675658" y="4313682"/>
            <a:ext cx="6652260" cy="4937760"/>
            <a:chOff x="0" y="0"/>
            <a:chExt cx="8869680" cy="65836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869680" cy="6583680"/>
            </a:xfrm>
            <a:custGeom>
              <a:avLst/>
              <a:gdLst/>
              <a:ahLst/>
              <a:cxnLst/>
              <a:rect l="l" t="t" r="r" b="b"/>
              <a:pathLst>
                <a:path w="8869680" h="6583680">
                  <a:moveTo>
                    <a:pt x="0" y="0"/>
                  </a:moveTo>
                  <a:lnTo>
                    <a:pt x="8869680" y="0"/>
                  </a:lnTo>
                  <a:lnTo>
                    <a:pt x="886968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35" r="-4523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0"/>
              <a:ext cx="8869680" cy="6678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Với mỗi ad thuộc Ads: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ad.ratio = ad.profit / ad.cost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Sắp xếp Ads giảm dần theo ad.ratio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(Nếu bằng nhau, ưu tiên profit cao hơn)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current_cost = 0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 selected_ads = danh sách rỗng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5. Với mỗi ad thuộc Ads đã sắp xếp: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Nếu current_cost + ad.cost ≤ Budget: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Thêm ad vào selected_ads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current_cost += ad.cost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6. Trả về selected_ads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675658" y="9320022"/>
            <a:ext cx="6652260" cy="754380"/>
            <a:chOff x="0" y="0"/>
            <a:chExt cx="8869680" cy="10058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869680" cy="1005840"/>
            </a:xfrm>
            <a:custGeom>
              <a:avLst/>
              <a:gdLst/>
              <a:ahLst/>
              <a:cxnLst/>
              <a:rect l="l" t="t" r="r" b="b"/>
              <a:pathLst>
                <a:path w="8869680" h="1005840">
                  <a:moveTo>
                    <a:pt x="0" y="0"/>
                  </a:moveTo>
                  <a:lnTo>
                    <a:pt x="8869680" y="0"/>
                  </a:lnTo>
                  <a:lnTo>
                    <a:pt x="886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822" b="-121822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886968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4"/>
                </a:lnSpc>
              </a:pPr>
              <a:r>
                <a:rPr lang="en-US" sz="1950" i="1">
                  <a:solidFill>
                    <a:srgbClr val="BFDAD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Không có bước quay lui — mỗi quảng cáo chỉ được xét đúng một lần.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62978" y="10458450"/>
            <a:ext cx="10972800" cy="411480"/>
            <a:chOff x="0" y="0"/>
            <a:chExt cx="14630400" cy="5486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GREEDY ALGORITHM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6207321" y="10458450"/>
            <a:ext cx="1371600" cy="411480"/>
            <a:chOff x="0" y="0"/>
            <a:chExt cx="1828800" cy="5486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/ 15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94894" y="1207008"/>
            <a:ext cx="4574286" cy="466344"/>
            <a:chOff x="0" y="0"/>
            <a:chExt cx="6099048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99048" cy="621792"/>
            </a:xfrm>
            <a:custGeom>
              <a:avLst/>
              <a:gdLst/>
              <a:ahLst/>
              <a:cxnLst/>
              <a:rect l="l" t="t" r="r" b="b"/>
              <a:pathLst>
                <a:path w="6099048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952744" y="0"/>
                  </a:lnTo>
                  <a:cubicBezTo>
                    <a:pt x="6033516" y="0"/>
                    <a:pt x="6099048" y="65532"/>
                    <a:pt x="6099048" y="146304"/>
                  </a:cubicBezTo>
                  <a:lnTo>
                    <a:pt x="6099048" y="475488"/>
                  </a:lnTo>
                  <a:cubicBezTo>
                    <a:pt x="6099048" y="556260"/>
                    <a:pt x="6033516" y="621792"/>
                    <a:pt x="5952744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94894" y="1207008"/>
            <a:ext cx="4574286" cy="466344"/>
            <a:chOff x="0" y="0"/>
            <a:chExt cx="6099048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99048" cy="621792"/>
            </a:xfrm>
            <a:custGeom>
              <a:avLst/>
              <a:gdLst/>
              <a:ahLst/>
              <a:cxnLst/>
              <a:rect l="l" t="t" r="r" b="b"/>
              <a:pathLst>
                <a:path w="6099048" h="621792">
                  <a:moveTo>
                    <a:pt x="0" y="0"/>
                  </a:moveTo>
                  <a:lnTo>
                    <a:pt x="6099048" y="0"/>
                  </a:lnTo>
                  <a:lnTo>
                    <a:pt x="609904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125" b="-14112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099048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 · GREEDY ALGORITHM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4894" y="1755648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Ví dụ minh họa từng bước (Budget = 30)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18071" y="2921508"/>
            <a:ext cx="8229600" cy="411480"/>
            <a:chOff x="0" y="0"/>
            <a:chExt cx="10972800" cy="548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75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DANH SÁCH ĐÃ SẮP XẾP THEO RATIO GIẢM DẦN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363474" y="3579876"/>
          <a:ext cx="8191499" cy="2514600"/>
        </p:xfrm>
        <a:graphic>
          <a:graphicData uri="http://schemas.openxmlformats.org/drawingml/2006/table">
            <a:tbl>
              <a:tblPr/>
              <a:tblGrid>
                <a:gridCol w="2721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Quảng cáo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Cost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Profit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Ratio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1E8A6E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2.5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QC3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" name="Group 17"/>
          <p:cNvGrpSpPr/>
          <p:nvPr/>
        </p:nvGrpSpPr>
        <p:grpSpPr>
          <a:xfrm>
            <a:off x="356330" y="6315932"/>
            <a:ext cx="8243888" cy="3511867"/>
            <a:chOff x="0" y="0"/>
            <a:chExt cx="10991850" cy="46824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91850" cy="4682490"/>
            </a:xfrm>
            <a:custGeom>
              <a:avLst/>
              <a:gdLst/>
              <a:ahLst/>
              <a:cxnLst/>
              <a:rect l="l" t="t" r="r" b="b"/>
              <a:pathLst>
                <a:path w="10991850" h="468249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844911" y="0"/>
                  </a:lnTo>
                  <a:cubicBezTo>
                    <a:pt x="10926064" y="0"/>
                    <a:pt x="10991850" y="65786"/>
                    <a:pt x="10991850" y="146939"/>
                  </a:cubicBezTo>
                  <a:lnTo>
                    <a:pt x="10991850" y="4535551"/>
                  </a:lnTo>
                  <a:cubicBezTo>
                    <a:pt x="10991850" y="4616704"/>
                    <a:pt x="10926064" y="4682490"/>
                    <a:pt x="10844911" y="4682490"/>
                  </a:cubicBezTo>
                  <a:lnTo>
                    <a:pt x="146939" y="4682490"/>
                  </a:lnTo>
                  <a:cubicBezTo>
                    <a:pt x="65786" y="4682490"/>
                    <a:pt x="0" y="4616704"/>
                    <a:pt x="0" y="4535551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37794" y="6528816"/>
            <a:ext cx="7680960" cy="411480"/>
            <a:chOff x="0" y="0"/>
            <a:chExt cx="1024128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720" b="-31372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75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DUYỆT TUẦN TỰ VÀ QUYẾT ĐỊNH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7794" y="7050024"/>
            <a:ext cx="548640" cy="548640"/>
            <a:chOff x="0" y="0"/>
            <a:chExt cx="731520" cy="73152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392174" y="7008876"/>
            <a:ext cx="2743200" cy="603504"/>
            <a:chOff x="0" y="0"/>
            <a:chExt cx="3657600" cy="804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57600" cy="804672"/>
            </a:xfrm>
            <a:custGeom>
              <a:avLst/>
              <a:gdLst/>
              <a:ahLst/>
              <a:cxnLst/>
              <a:rect l="l" t="t" r="r" b="b"/>
              <a:pathLst>
                <a:path w="3657600" h="804672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68" b="-3856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365760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QC2 (Cost 20)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03954" y="7008876"/>
            <a:ext cx="4251960" cy="603504"/>
            <a:chOff x="0" y="0"/>
            <a:chExt cx="5669280" cy="8046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69280" cy="804672"/>
            </a:xfrm>
            <a:custGeom>
              <a:avLst/>
              <a:gdLst/>
              <a:ahLst/>
              <a:cxnLst/>
              <a:rect l="l" t="t" r="r" b="b"/>
              <a:pathLst>
                <a:path w="5669280" h="804672">
                  <a:moveTo>
                    <a:pt x="0" y="0"/>
                  </a:moveTo>
                  <a:lnTo>
                    <a:pt x="5669280" y="0"/>
                  </a:lnTo>
                  <a:lnTo>
                    <a:pt x="5669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280" b="-8728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66928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E8A6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20 ≤ 30 → CHỌN. Còn lại: 10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37794" y="7900416"/>
            <a:ext cx="548640" cy="548640"/>
            <a:chOff x="0" y="0"/>
            <a:chExt cx="731520" cy="731520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392174" y="7859268"/>
            <a:ext cx="2743200" cy="603504"/>
            <a:chOff x="0" y="0"/>
            <a:chExt cx="3657600" cy="8046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57600" cy="804672"/>
            </a:xfrm>
            <a:custGeom>
              <a:avLst/>
              <a:gdLst/>
              <a:ahLst/>
              <a:cxnLst/>
              <a:rect l="l" t="t" r="r" b="b"/>
              <a:pathLst>
                <a:path w="3657600" h="804672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68" b="-3856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365760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QC1 (Cost 15)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203954" y="7859268"/>
            <a:ext cx="4251960" cy="603504"/>
            <a:chOff x="0" y="0"/>
            <a:chExt cx="5669280" cy="8046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69280" cy="804672"/>
            </a:xfrm>
            <a:custGeom>
              <a:avLst/>
              <a:gdLst/>
              <a:ahLst/>
              <a:cxnLst/>
              <a:rect l="l" t="t" r="r" b="b"/>
              <a:pathLst>
                <a:path w="5669280" h="804672">
                  <a:moveTo>
                    <a:pt x="0" y="0"/>
                  </a:moveTo>
                  <a:lnTo>
                    <a:pt x="5669280" y="0"/>
                  </a:lnTo>
                  <a:lnTo>
                    <a:pt x="5669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280" b="-8728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566928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5B7B8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15 &gt; 10 → BỎ QUA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7794" y="8750808"/>
            <a:ext cx="548640" cy="548640"/>
            <a:chOff x="0" y="0"/>
            <a:chExt cx="731520" cy="731520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392174" y="8709660"/>
            <a:ext cx="2743200" cy="603504"/>
            <a:chOff x="0" y="0"/>
            <a:chExt cx="3657600" cy="8046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57600" cy="804672"/>
            </a:xfrm>
            <a:custGeom>
              <a:avLst/>
              <a:gdLst/>
              <a:ahLst/>
              <a:cxnLst/>
              <a:rect l="l" t="t" r="r" b="b"/>
              <a:pathLst>
                <a:path w="3657600" h="804672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68" b="-3856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365760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QC3 (Cost 10)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203954" y="8709660"/>
            <a:ext cx="4251960" cy="603504"/>
            <a:chOff x="0" y="0"/>
            <a:chExt cx="5669280" cy="8046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69280" cy="804672"/>
            </a:xfrm>
            <a:custGeom>
              <a:avLst/>
              <a:gdLst/>
              <a:ahLst/>
              <a:cxnLst/>
              <a:rect l="l" t="t" r="r" b="b"/>
              <a:pathLst>
                <a:path w="5669280" h="804672">
                  <a:moveTo>
                    <a:pt x="0" y="0"/>
                  </a:moveTo>
                  <a:lnTo>
                    <a:pt x="5669280" y="0"/>
                  </a:lnTo>
                  <a:lnTo>
                    <a:pt x="5669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280" b="-87280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566928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E8A6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10 ≤ 10 → CHỌN. Còn lại: 0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141714" y="3099816"/>
            <a:ext cx="8023860" cy="3223260"/>
            <a:chOff x="0" y="0"/>
            <a:chExt cx="10698480" cy="42976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698480" cy="4297680"/>
            </a:xfrm>
            <a:custGeom>
              <a:avLst/>
              <a:gdLst/>
              <a:ahLst/>
              <a:cxnLst/>
              <a:rect l="l" t="t" r="r" b="b"/>
              <a:pathLst>
                <a:path w="10698480" h="4297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4114800"/>
                  </a:lnTo>
                  <a:cubicBezTo>
                    <a:pt x="10698480" y="4215765"/>
                    <a:pt x="10616565" y="4297680"/>
                    <a:pt x="10515600" y="4297680"/>
                  </a:cubicBezTo>
                  <a:lnTo>
                    <a:pt x="182880" y="4297680"/>
                  </a:lnTo>
                  <a:cubicBezTo>
                    <a:pt x="81915" y="4297680"/>
                    <a:pt x="0" y="4215765"/>
                    <a:pt x="0" y="4114800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9484614" y="3374136"/>
            <a:ext cx="7269480" cy="411480"/>
            <a:chOff x="0" y="0"/>
            <a:chExt cx="969264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692640" cy="548640"/>
            </a:xfrm>
            <a:custGeom>
              <a:avLst/>
              <a:gdLst/>
              <a:ahLst/>
              <a:cxnLst/>
              <a:rect l="l" t="t" r="r" b="b"/>
              <a:pathLst>
                <a:path w="9692640" h="548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35" b="-294235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96926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QUẢ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84614" y="3854196"/>
            <a:ext cx="7269480" cy="754380"/>
            <a:chOff x="0" y="0"/>
            <a:chExt cx="9692640" cy="10058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692640" cy="1005840"/>
            </a:xfrm>
            <a:custGeom>
              <a:avLst/>
              <a:gdLst/>
              <a:ahLst/>
              <a:cxnLst/>
              <a:rect l="l" t="t" r="r" b="b"/>
              <a:pathLst>
                <a:path w="9692640" h="10058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764" b="-137764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9692640" cy="1034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Chọn QC2 + QC3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484614" y="4745736"/>
            <a:ext cx="3703320" cy="411480"/>
            <a:chOff x="0" y="0"/>
            <a:chExt cx="4937760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937760" cy="548640"/>
            </a:xfrm>
            <a:custGeom>
              <a:avLst/>
              <a:gdLst/>
              <a:ahLst/>
              <a:cxnLst/>
              <a:rect l="l" t="t" r="r" b="b"/>
              <a:pathLst>
                <a:path w="4937760" h="54864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FDAD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Tổng chi phí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484614" y="5157216"/>
            <a:ext cx="3703320" cy="822960"/>
            <a:chOff x="0" y="0"/>
            <a:chExt cx="4937760" cy="10972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937760" cy="1097280"/>
            </a:xfrm>
            <a:custGeom>
              <a:avLst/>
              <a:gdLst/>
              <a:ahLst/>
              <a:cxnLst/>
              <a:rect l="l" t="t" r="r" b="b"/>
              <a:pathLst>
                <a:path w="4937760" h="1097280">
                  <a:moveTo>
                    <a:pt x="0" y="0"/>
                  </a:moveTo>
                  <a:lnTo>
                    <a:pt x="4937760" y="0"/>
                  </a:lnTo>
                  <a:lnTo>
                    <a:pt x="4937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4937760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30 / 30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93674" y="4745736"/>
            <a:ext cx="3703320" cy="411480"/>
            <a:chOff x="0" y="0"/>
            <a:chExt cx="4937760" cy="5486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937760" cy="548640"/>
            </a:xfrm>
            <a:custGeom>
              <a:avLst/>
              <a:gdLst/>
              <a:ahLst/>
              <a:cxnLst/>
              <a:rect l="l" t="t" r="r" b="b"/>
              <a:pathLst>
                <a:path w="4937760" h="54864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FDAD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Tổng lợi nhuận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393674" y="5157216"/>
            <a:ext cx="3703320" cy="822960"/>
            <a:chOff x="0" y="0"/>
            <a:chExt cx="4937760" cy="109728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937760" cy="1097280"/>
            </a:xfrm>
            <a:custGeom>
              <a:avLst/>
              <a:gdLst/>
              <a:ahLst/>
              <a:cxnLst/>
              <a:rect l="l" t="t" r="r" b="b"/>
              <a:pathLst>
                <a:path w="4937760" h="1097280">
                  <a:moveTo>
                    <a:pt x="0" y="0"/>
                  </a:moveTo>
                  <a:lnTo>
                    <a:pt x="4937760" y="0"/>
                  </a:lnTo>
                  <a:lnTo>
                    <a:pt x="4937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4937760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E08E2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65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141714" y="6597396"/>
            <a:ext cx="8023860" cy="411480"/>
            <a:chOff x="0" y="0"/>
            <a:chExt cx="10698480" cy="5486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106984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75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MỨC SỬ DỤNG NGÂN SÁCH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134570" y="7097744"/>
            <a:ext cx="8038147" cy="768668"/>
            <a:chOff x="0" y="0"/>
            <a:chExt cx="10717530" cy="102489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717530" cy="1025017"/>
            </a:xfrm>
            <a:custGeom>
              <a:avLst/>
              <a:gdLst/>
              <a:ahLst/>
              <a:cxnLst/>
              <a:rect l="l" t="t" r="r" b="b"/>
              <a:pathLst>
                <a:path w="10717530" h="1025017">
                  <a:moveTo>
                    <a:pt x="0" y="503174"/>
                  </a:moveTo>
                  <a:cubicBezTo>
                    <a:pt x="0" y="225298"/>
                    <a:pt x="225298" y="0"/>
                    <a:pt x="503174" y="0"/>
                  </a:cubicBezTo>
                  <a:lnTo>
                    <a:pt x="10214356" y="0"/>
                  </a:lnTo>
                  <a:cubicBezTo>
                    <a:pt x="10492232" y="0"/>
                    <a:pt x="10717530" y="225298"/>
                    <a:pt x="10717530" y="503174"/>
                  </a:cubicBezTo>
                  <a:lnTo>
                    <a:pt x="10717530" y="521843"/>
                  </a:lnTo>
                  <a:cubicBezTo>
                    <a:pt x="10717530" y="799719"/>
                    <a:pt x="10492232" y="1025017"/>
                    <a:pt x="10214356" y="1025017"/>
                  </a:cubicBezTo>
                  <a:lnTo>
                    <a:pt x="503174" y="1025017"/>
                  </a:lnTo>
                  <a:cubicBezTo>
                    <a:pt x="225298" y="1024890"/>
                    <a:pt x="0" y="799592"/>
                    <a:pt x="0" y="521716"/>
                  </a:cubicBezTo>
                  <a:close/>
                </a:path>
              </a:pathLst>
            </a:custGeom>
            <a:solidFill>
              <a:srgbClr val="F4F9F9"/>
            </a:solidFill>
            <a:ln w="14288" cap="sq">
              <a:solidFill>
                <a:srgbClr val="D8E9E9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9141714" y="7104888"/>
            <a:ext cx="5349240" cy="754380"/>
            <a:chOff x="0" y="0"/>
            <a:chExt cx="7132320" cy="10058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132320" cy="1005840"/>
            </a:xfrm>
            <a:custGeom>
              <a:avLst/>
              <a:gdLst/>
              <a:ahLst/>
              <a:cxnLst/>
              <a:rect l="l" t="t" r="r" b="b"/>
              <a:pathLst>
                <a:path w="7132320" h="1005840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lnTo>
                    <a:pt x="6638544" y="0"/>
                  </a:lnTo>
                  <a:cubicBezTo>
                    <a:pt x="6911212" y="0"/>
                    <a:pt x="7132320" y="221107"/>
                    <a:pt x="7132320" y="493776"/>
                  </a:cubicBezTo>
                  <a:lnTo>
                    <a:pt x="7132320" y="512064"/>
                  </a:lnTo>
                  <a:cubicBezTo>
                    <a:pt x="7132320" y="784733"/>
                    <a:pt x="6911213" y="1005840"/>
                    <a:pt x="6638544" y="1005840"/>
                  </a:cubicBezTo>
                  <a:lnTo>
                    <a:pt x="493776" y="1005840"/>
                  </a:lnTo>
                  <a:cubicBezTo>
                    <a:pt x="221107" y="1005840"/>
                    <a:pt x="0" y="784733"/>
                    <a:pt x="0" y="512064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141714" y="7104888"/>
            <a:ext cx="5349240" cy="754380"/>
            <a:chOff x="0" y="0"/>
            <a:chExt cx="7132320" cy="10058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132320" cy="1005840"/>
            </a:xfrm>
            <a:custGeom>
              <a:avLst/>
              <a:gdLst/>
              <a:ahLst/>
              <a:cxnLst/>
              <a:rect l="l" t="t" r="r" b="b"/>
              <a:pathLst>
                <a:path w="7132320" h="1005840">
                  <a:moveTo>
                    <a:pt x="0" y="0"/>
                  </a:moveTo>
                  <a:lnTo>
                    <a:pt x="7132320" y="0"/>
                  </a:lnTo>
                  <a:lnTo>
                    <a:pt x="7132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166" b="-88166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713232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QC2 (20)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490954" y="7104888"/>
            <a:ext cx="2674620" cy="754380"/>
            <a:chOff x="0" y="0"/>
            <a:chExt cx="3566160" cy="10058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566160" cy="1005840"/>
            </a:xfrm>
            <a:custGeom>
              <a:avLst/>
              <a:gdLst/>
              <a:ahLst/>
              <a:cxnLst/>
              <a:rect l="l" t="t" r="r" b="b"/>
              <a:pathLst>
                <a:path w="356616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3398520" y="0"/>
                  </a:lnTo>
                  <a:cubicBezTo>
                    <a:pt x="3491103" y="0"/>
                    <a:pt x="3566160" y="75057"/>
                    <a:pt x="3566160" y="167640"/>
                  </a:cubicBezTo>
                  <a:lnTo>
                    <a:pt x="3566160" y="838200"/>
                  </a:lnTo>
                  <a:cubicBezTo>
                    <a:pt x="3566160" y="930783"/>
                    <a:pt x="3491103" y="1005840"/>
                    <a:pt x="339852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0B45C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14490954" y="7104888"/>
            <a:ext cx="2674620" cy="754380"/>
            <a:chOff x="0" y="0"/>
            <a:chExt cx="3566160" cy="10058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566160" cy="1005840"/>
            </a:xfrm>
            <a:custGeom>
              <a:avLst/>
              <a:gdLst/>
              <a:ahLst/>
              <a:cxnLst/>
              <a:rect l="l" t="t" r="r" b="b"/>
              <a:pathLst>
                <a:path w="3566160" h="1005840">
                  <a:moveTo>
                    <a:pt x="0" y="0"/>
                  </a:moveTo>
                  <a:lnTo>
                    <a:pt x="3566160" y="0"/>
                  </a:lnTo>
                  <a:lnTo>
                    <a:pt x="3566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83" b="-19083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35661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QC3 (10)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141714" y="8243316"/>
            <a:ext cx="8023860" cy="1577340"/>
            <a:chOff x="0" y="0"/>
            <a:chExt cx="10698480" cy="21031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698480" cy="2103120"/>
            </a:xfrm>
            <a:custGeom>
              <a:avLst/>
              <a:gdLst/>
              <a:ahLst/>
              <a:cxnLst/>
              <a:rect l="l" t="t" r="r" b="b"/>
              <a:pathLst>
                <a:path w="10698480" h="2103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1956816"/>
                  </a:lnTo>
                  <a:cubicBezTo>
                    <a:pt x="10698480" y="2037588"/>
                    <a:pt x="10632948" y="2103120"/>
                    <a:pt x="1055217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9416034" y="8476488"/>
            <a:ext cx="685800" cy="685800"/>
            <a:chOff x="0" y="0"/>
            <a:chExt cx="914400" cy="9144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9505188" y="8565642"/>
            <a:ext cx="507492" cy="507492"/>
            <a:chOff x="0" y="0"/>
            <a:chExt cx="676656" cy="676656"/>
          </a:xfrm>
        </p:grpSpPr>
        <p:sp>
          <p:nvSpPr>
            <p:cNvPr id="86" name="Freeform 86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10307574" y="8243316"/>
            <a:ext cx="6652260" cy="1577340"/>
            <a:chOff x="0" y="0"/>
            <a:chExt cx="8869680" cy="210312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869680" cy="2103120"/>
            </a:xfrm>
            <a:custGeom>
              <a:avLst/>
              <a:gdLst/>
              <a:ahLst/>
              <a:cxnLst/>
              <a:rect l="l" t="t" r="r" b="b"/>
              <a:pathLst>
                <a:path w="8869680" h="2103120">
                  <a:moveTo>
                    <a:pt x="0" y="0"/>
                  </a:moveTo>
                  <a:lnTo>
                    <a:pt x="8869680" y="0"/>
                  </a:lnTo>
                  <a:lnTo>
                    <a:pt x="88696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76" b="-32176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47625"/>
              <a:ext cx="8869680" cy="2150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 i="1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Ở dữ liệu nhỏ này, kết quả Greedy trùng với kết quả tối ưu — nhưng điều này KHÔNG được đảm bảo cho mọi bộ dữ liệu (xem trang So sánh).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294894" y="10341864"/>
            <a:ext cx="10972800" cy="411480"/>
            <a:chOff x="0" y="0"/>
            <a:chExt cx="14630400" cy="54864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GREEDY ALGORITHM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5839237" y="10341864"/>
            <a:ext cx="1371600" cy="411480"/>
            <a:chOff x="0" y="0"/>
            <a:chExt cx="1828800" cy="54864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 / 15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0537" y="1241298"/>
            <a:ext cx="4759452" cy="466344"/>
            <a:chOff x="0" y="0"/>
            <a:chExt cx="6345936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45936" cy="621792"/>
            </a:xfrm>
            <a:custGeom>
              <a:avLst/>
              <a:gdLst/>
              <a:ahLst/>
              <a:cxnLst/>
              <a:rect l="l" t="t" r="r" b="b"/>
              <a:pathLst>
                <a:path w="6345936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199632" y="0"/>
                  </a:lnTo>
                  <a:cubicBezTo>
                    <a:pt x="6280404" y="0"/>
                    <a:pt x="6345936" y="65532"/>
                    <a:pt x="6345936" y="146304"/>
                  </a:cubicBezTo>
                  <a:lnTo>
                    <a:pt x="6345936" y="475488"/>
                  </a:lnTo>
                  <a:cubicBezTo>
                    <a:pt x="6345936" y="556260"/>
                    <a:pt x="6280404" y="621792"/>
                    <a:pt x="619963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40537" y="1241298"/>
            <a:ext cx="4759452" cy="466344"/>
            <a:chOff x="0" y="0"/>
            <a:chExt cx="6345936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45936" cy="621792"/>
            </a:xfrm>
            <a:custGeom>
              <a:avLst/>
              <a:gdLst/>
              <a:ahLst/>
              <a:cxnLst/>
              <a:rect l="l" t="t" r="r" b="b"/>
              <a:pathLst>
                <a:path w="6345936" h="621792">
                  <a:moveTo>
                    <a:pt x="0" y="0"/>
                  </a:moveTo>
                  <a:lnTo>
                    <a:pt x="6345936" y="0"/>
                  </a:lnTo>
                  <a:lnTo>
                    <a:pt x="634593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862" b="-14886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345936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 · SO SÁNH HIỆU SUẤT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0537" y="1789938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Bảng so sánh toàn diện: DP vs Greedy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9117" y="2955798"/>
            <a:ext cx="16733520" cy="480060"/>
            <a:chOff x="0" y="0"/>
            <a:chExt cx="22311360" cy="640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11361" cy="640080"/>
            </a:xfrm>
            <a:custGeom>
              <a:avLst/>
              <a:gdLst/>
              <a:ahLst/>
              <a:cxnLst/>
              <a:rect l="l" t="t" r="r" b="b"/>
              <a:pathLst>
                <a:path w="22311361" h="640080">
                  <a:moveTo>
                    <a:pt x="0" y="0"/>
                  </a:moveTo>
                  <a:lnTo>
                    <a:pt x="22311361" y="0"/>
                  </a:lnTo>
                  <a:lnTo>
                    <a:pt x="223113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192" b="-62919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231136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Kết quả tổng hợp từ thực nghiệm chạy trực tiếp Dynamic.cpp và greedy.cpp trên cùng bộ dữ liệu quảng cáo: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709118" y="3751326"/>
          <a:ext cx="16764001" cy="6172202"/>
        </p:xfrm>
        <a:graphic>
          <a:graphicData uri="http://schemas.openxmlformats.org/drawingml/2006/table">
            <a:tbl>
              <a:tblPr/>
              <a:tblGrid>
                <a:gridCol w="260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5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3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138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Tiêu chí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Quy hoạch động (DP)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Tham lam (Greedy)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Đánh giá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516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Độ phức tạp</a:t>
                      </a:r>
                      <a:endParaRPr lang="en-US" sz="1100"/>
                    </a:p>
                    <a:p>
                      <a:pPr algn="l">
                        <a:lnSpc>
                          <a:spcPts val="2340"/>
                        </a:lnSpc>
                      </a:pPr>
                      <a:r>
                        <a:rPr lang="en-US" sz="19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thời gian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2809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O(n × W)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E08E2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O(n log n)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i="1">
                          <a:solidFill>
                            <a:srgbClr val="000000"/>
                          </a:solidFill>
                          <a:latin typeface="Times New Roman Italics"/>
                          <a:ea typeface="Times New Roman Italics"/>
                          <a:cs typeface="Times New Roman Italics"/>
                          <a:sym typeface="Times New Roman Italics"/>
                        </a:rPr>
                        <a:t>DP tốn thời gian hơn đáng kể khi W lớn; Greedy tối ưu cho tốc độ.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9516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Bộ nhớ</a:t>
                      </a:r>
                      <a:endParaRPr lang="en-US" sz="1100"/>
                    </a:p>
                    <a:p>
                      <a:pPr algn="l">
                        <a:lnSpc>
                          <a:spcPts val="2340"/>
                        </a:lnSpc>
                      </a:pPr>
                      <a:r>
                        <a:rPr lang="en-US" sz="19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(Không gian)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2809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O(n × W) — ma trận 2 chiều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E08E2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O(n) — mảng 1 chiều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i="1">
                          <a:solidFill>
                            <a:srgbClr val="000000"/>
                          </a:solidFill>
                          <a:latin typeface="Times New Roman Italics"/>
                          <a:ea typeface="Times New Roman Italics"/>
                          <a:cs typeface="Times New Roman Italics"/>
                          <a:sym typeface="Times New Roman Italics"/>
                        </a:rPr>
                        <a:t>Greedy vượt trội khi tập dữ liệu khổng lồ.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9516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Độ chính xác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2809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Tuyệt đối — 100% tối ưu toàn cục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E08E2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Tương đối — chỉ tối ưu cục bộ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i="1">
                          <a:solidFill>
                            <a:srgbClr val="000000"/>
                          </a:solidFill>
                          <a:latin typeface="Times New Roman Italics"/>
                          <a:ea typeface="Times New Roman Italics"/>
                          <a:cs typeface="Times New Roman Italics"/>
                          <a:sym typeface="Times New Roman Italics"/>
                        </a:rPr>
                        <a:t>Dùng DP khi cần tối đa hóa từng đồng doanh thu.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9516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Bản chất</a:t>
                      </a:r>
                      <a:endParaRPr lang="en-US" sz="1100"/>
                    </a:p>
                    <a:p>
                      <a:pPr algn="l">
                        <a:lnSpc>
                          <a:spcPts val="2340"/>
                        </a:lnSpc>
                      </a:pPr>
                      <a:r>
                        <a:rPr lang="en-US" sz="1950" b="1">
                          <a:solidFill>
                            <a:srgbClr val="0B2B3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thuật toán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2809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Bài toán con gối nhau</a:t>
                      </a:r>
                      <a:endParaRPr lang="en-US" sz="1100"/>
                    </a:p>
                    <a:p>
                      <a:pPr algn="l">
                        <a:lnSpc>
                          <a:spcPts val="2340"/>
                        </a:lnSpc>
                      </a:pPr>
                      <a:r>
                        <a:rPr lang="en-US" sz="1950" b="1">
                          <a:solidFill>
                            <a:srgbClr val="02809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(Overlapping Subproblems)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E08E2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Lựa chọn tham lam,</a:t>
                      </a:r>
                      <a:endParaRPr lang="en-US" sz="1100"/>
                    </a:p>
                    <a:p>
                      <a:pPr algn="l">
                        <a:lnSpc>
                          <a:spcPts val="2340"/>
                        </a:lnSpc>
                      </a:pPr>
                      <a:r>
                        <a:rPr lang="en-US" sz="1950" b="1">
                          <a:solidFill>
                            <a:srgbClr val="E08E24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không quay lui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i="1">
                          <a:solidFill>
                            <a:srgbClr val="000000"/>
                          </a:solidFill>
                          <a:latin typeface="Times New Roman Italics"/>
                          <a:ea typeface="Times New Roman Italics"/>
                          <a:cs typeface="Times New Roman Italics"/>
                          <a:sym typeface="Times New Roman Italics"/>
                        </a:rPr>
                        <a:t>Cả hai đều cần cấu trúc con tối ưu.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82610" y="1241298"/>
            <a:ext cx="4759452" cy="466344"/>
            <a:chOff x="0" y="0"/>
            <a:chExt cx="6345936" cy="621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45936" cy="621792"/>
            </a:xfrm>
            <a:custGeom>
              <a:avLst/>
              <a:gdLst/>
              <a:ahLst/>
              <a:cxnLst/>
              <a:rect l="l" t="t" r="r" b="b"/>
              <a:pathLst>
                <a:path w="6345936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199632" y="0"/>
                  </a:lnTo>
                  <a:cubicBezTo>
                    <a:pt x="6280404" y="0"/>
                    <a:pt x="6345936" y="65532"/>
                    <a:pt x="6345936" y="146304"/>
                  </a:cubicBezTo>
                  <a:lnTo>
                    <a:pt x="6345936" y="475488"/>
                  </a:lnTo>
                  <a:cubicBezTo>
                    <a:pt x="6345936" y="556260"/>
                    <a:pt x="6280404" y="621792"/>
                    <a:pt x="619963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382610" y="1241298"/>
            <a:ext cx="4759452" cy="466344"/>
            <a:chOff x="0" y="0"/>
            <a:chExt cx="6345936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45936" cy="621792"/>
            </a:xfrm>
            <a:custGeom>
              <a:avLst/>
              <a:gdLst/>
              <a:ahLst/>
              <a:cxnLst/>
              <a:rect l="l" t="t" r="r" b="b"/>
              <a:pathLst>
                <a:path w="6345936" h="621792">
                  <a:moveTo>
                    <a:pt x="0" y="0"/>
                  </a:moveTo>
                  <a:lnTo>
                    <a:pt x="6345936" y="0"/>
                  </a:lnTo>
                  <a:lnTo>
                    <a:pt x="634593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862" b="-14886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345936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 · SO SÁNH HIỆU SUẤT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2610" y="1789938"/>
            <a:ext cx="16870680" cy="1165860"/>
            <a:chOff x="0" y="0"/>
            <a:chExt cx="2249424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4239" cy="1554480"/>
            </a:xfrm>
            <a:custGeom>
              <a:avLst/>
              <a:gdLst/>
              <a:ahLst/>
              <a:cxnLst/>
              <a:rect l="l" t="t" r="r" b="b"/>
              <a:pathLst>
                <a:path w="22494239" h="1554480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959" b="-2319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494240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2B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Biểu đồ trực quan: đánh đổi Tốc độ ↔ Độ chính xác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1190" y="3134106"/>
            <a:ext cx="8229600" cy="438912"/>
            <a:chOff x="0" y="0"/>
            <a:chExt cx="10972800" cy="5852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0" cy="585216"/>
            </a:xfrm>
            <a:custGeom>
              <a:avLst/>
              <a:gdLst/>
              <a:ahLst/>
              <a:cxnLst/>
              <a:rect l="l" t="t" r="r" b="b"/>
              <a:pathLst>
                <a:path w="10972800" h="585216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45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SỐ PHÉP TÍNH ƯỚC LƯỢNG (n = 50, Budget = 1.000)</a:t>
              </a:r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2813" y="2972758"/>
            <a:ext cx="10008275" cy="5771968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451190" y="8003286"/>
            <a:ext cx="8366760" cy="891540"/>
            <a:chOff x="0" y="0"/>
            <a:chExt cx="11155680" cy="11887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155680" cy="1188720"/>
            </a:xfrm>
            <a:custGeom>
              <a:avLst/>
              <a:gdLst/>
              <a:ahLst/>
              <a:cxnLst/>
              <a:rect l="l" t="t" r="r" b="b"/>
              <a:pathLst>
                <a:path w="11155680" h="1188720">
                  <a:moveTo>
                    <a:pt x="0" y="0"/>
                  </a:moveTo>
                  <a:lnTo>
                    <a:pt x="11155680" y="0"/>
                  </a:lnTo>
                  <a:lnTo>
                    <a:pt x="111556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59" b="-13285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115568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 i="1">
                  <a:solidFill>
                    <a:srgbClr val="00000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50.000 phép tính (bảng 50×1.000) so với chỉ ~282 phép tính (50×log₂50) — Greedy nhanh hơn hàng trăm lần ở quy mô này</a:t>
              </a:r>
              <a:r>
                <a:rPr lang="en-US" sz="1950" i="1">
                  <a:solidFill>
                    <a:srgbClr val="5B7B8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66590" y="3134106"/>
            <a:ext cx="7818120" cy="438912"/>
            <a:chOff x="0" y="0"/>
            <a:chExt cx="10424160" cy="5852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24160" cy="585216"/>
            </a:xfrm>
            <a:custGeom>
              <a:avLst/>
              <a:gdLst/>
              <a:ahLst/>
              <a:cxnLst/>
              <a:rect l="l" t="t" r="r" b="b"/>
              <a:pathLst>
                <a:path w="10424160" h="585216">
                  <a:moveTo>
                    <a:pt x="0" y="0"/>
                  </a:moveTo>
                  <a:lnTo>
                    <a:pt x="10424160" y="0"/>
                  </a:lnTo>
                  <a:lnTo>
                    <a:pt x="1042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077" b="-29707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042416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45">
                  <a:solidFill>
                    <a:srgbClr val="5B7B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 SÁNH ĐA TIÊU CHÍ (Điểm 1–10)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66590" y="3751326"/>
            <a:ext cx="3154680" cy="411480"/>
            <a:chOff x="0" y="0"/>
            <a:chExt cx="420624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06240" cy="548640"/>
            </a:xfrm>
            <a:custGeom>
              <a:avLst/>
              <a:gdLst/>
              <a:ahLst/>
              <a:cxnLst/>
              <a:rect l="l" t="t" r="r" b="b"/>
              <a:pathLst>
                <a:path w="4206240" h="5486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42062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Độ chính xác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589850" y="3751326"/>
            <a:ext cx="4594860" cy="219456"/>
            <a:chOff x="0" y="0"/>
            <a:chExt cx="6126480" cy="2926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589850" y="3751326"/>
            <a:ext cx="4594860" cy="219456"/>
            <a:chOff x="0" y="0"/>
            <a:chExt cx="6126480" cy="2926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2589850" y="4025646"/>
            <a:ext cx="4594860" cy="219456"/>
            <a:chOff x="0" y="0"/>
            <a:chExt cx="6126480" cy="2926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589850" y="4025646"/>
            <a:ext cx="2756916" cy="219456"/>
            <a:chOff x="0" y="0"/>
            <a:chExt cx="3675888" cy="2926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75888" cy="292608"/>
            </a:xfrm>
            <a:custGeom>
              <a:avLst/>
              <a:gdLst/>
              <a:ahLst/>
              <a:cxnLst/>
              <a:rect l="l" t="t" r="r" b="b"/>
              <a:pathLst>
                <a:path w="3675888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621024" y="0"/>
                  </a:lnTo>
                  <a:cubicBezTo>
                    <a:pt x="3651377" y="0"/>
                    <a:pt x="3675888" y="24511"/>
                    <a:pt x="3675888" y="54864"/>
                  </a:cubicBezTo>
                  <a:lnTo>
                    <a:pt x="3675888" y="237744"/>
                  </a:lnTo>
                  <a:cubicBezTo>
                    <a:pt x="3675888" y="268097"/>
                    <a:pt x="3651377" y="292608"/>
                    <a:pt x="3621024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366590" y="4601718"/>
            <a:ext cx="3154680" cy="411480"/>
            <a:chOff x="0" y="0"/>
            <a:chExt cx="420624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206240" cy="548640"/>
            </a:xfrm>
            <a:custGeom>
              <a:avLst/>
              <a:gdLst/>
              <a:ahLst/>
              <a:cxnLst/>
              <a:rect l="l" t="t" r="r" b="b"/>
              <a:pathLst>
                <a:path w="4206240" h="5486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42062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Tốc độ xử lý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89850" y="4601718"/>
            <a:ext cx="4594860" cy="219456"/>
            <a:chOff x="0" y="0"/>
            <a:chExt cx="6126480" cy="2926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2589850" y="4601718"/>
            <a:ext cx="1837944" cy="219456"/>
            <a:chOff x="0" y="0"/>
            <a:chExt cx="2450592" cy="2926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50592" cy="292608"/>
            </a:xfrm>
            <a:custGeom>
              <a:avLst/>
              <a:gdLst/>
              <a:ahLst/>
              <a:cxnLst/>
              <a:rect l="l" t="t" r="r" b="b"/>
              <a:pathLst>
                <a:path w="2450592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395728" y="0"/>
                  </a:lnTo>
                  <a:cubicBezTo>
                    <a:pt x="2426081" y="0"/>
                    <a:pt x="2450592" y="24511"/>
                    <a:pt x="2450592" y="54864"/>
                  </a:cubicBezTo>
                  <a:lnTo>
                    <a:pt x="2450592" y="237744"/>
                  </a:lnTo>
                  <a:cubicBezTo>
                    <a:pt x="2450592" y="268097"/>
                    <a:pt x="2426081" y="292608"/>
                    <a:pt x="2395728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589850" y="4876038"/>
            <a:ext cx="4594860" cy="219456"/>
            <a:chOff x="0" y="0"/>
            <a:chExt cx="6126480" cy="29260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2589850" y="4876038"/>
            <a:ext cx="4594860" cy="219456"/>
            <a:chOff x="0" y="0"/>
            <a:chExt cx="6126480" cy="2926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9366590" y="5452110"/>
            <a:ext cx="3154680" cy="411480"/>
            <a:chOff x="0" y="0"/>
            <a:chExt cx="420624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206240" cy="548640"/>
            </a:xfrm>
            <a:custGeom>
              <a:avLst/>
              <a:gdLst/>
              <a:ahLst/>
              <a:cxnLst/>
              <a:rect l="l" t="t" r="r" b="b"/>
              <a:pathLst>
                <a:path w="4206240" h="5486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42062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Tiết kiệm bộ nhớ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589850" y="5452110"/>
            <a:ext cx="4594860" cy="219456"/>
            <a:chOff x="0" y="0"/>
            <a:chExt cx="6126480" cy="2926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2589850" y="5452110"/>
            <a:ext cx="1378458" cy="219456"/>
            <a:chOff x="0" y="0"/>
            <a:chExt cx="1837944" cy="2926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837944" cy="292608"/>
            </a:xfrm>
            <a:custGeom>
              <a:avLst/>
              <a:gdLst/>
              <a:ahLst/>
              <a:cxnLst/>
              <a:rect l="l" t="t" r="r" b="b"/>
              <a:pathLst>
                <a:path w="1837944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1783080" y="0"/>
                  </a:lnTo>
                  <a:cubicBezTo>
                    <a:pt x="1813433" y="0"/>
                    <a:pt x="1837944" y="24511"/>
                    <a:pt x="1837944" y="54864"/>
                  </a:cubicBezTo>
                  <a:lnTo>
                    <a:pt x="1837944" y="237744"/>
                  </a:lnTo>
                  <a:cubicBezTo>
                    <a:pt x="1837944" y="268097"/>
                    <a:pt x="1813433" y="292608"/>
                    <a:pt x="1783080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2589850" y="5726430"/>
            <a:ext cx="4594860" cy="219456"/>
            <a:chOff x="0" y="0"/>
            <a:chExt cx="6126480" cy="29260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2589850" y="5726430"/>
            <a:ext cx="4594860" cy="219456"/>
            <a:chOff x="0" y="0"/>
            <a:chExt cx="6126480" cy="29260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366590" y="6302502"/>
            <a:ext cx="3154680" cy="411480"/>
            <a:chOff x="0" y="0"/>
            <a:chExt cx="420624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206240" cy="548640"/>
            </a:xfrm>
            <a:custGeom>
              <a:avLst/>
              <a:gdLst/>
              <a:ahLst/>
              <a:cxnLst/>
              <a:rect l="l" t="t" r="r" b="b"/>
              <a:pathLst>
                <a:path w="4206240" h="5486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420624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Độ đơn giản cài đặt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589850" y="6302502"/>
            <a:ext cx="4594860" cy="219456"/>
            <a:chOff x="0" y="0"/>
            <a:chExt cx="6126480" cy="29260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2589850" y="6302502"/>
            <a:ext cx="1837944" cy="219456"/>
            <a:chOff x="0" y="0"/>
            <a:chExt cx="2450592" cy="29260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450592" cy="292608"/>
            </a:xfrm>
            <a:custGeom>
              <a:avLst/>
              <a:gdLst/>
              <a:ahLst/>
              <a:cxnLst/>
              <a:rect l="l" t="t" r="r" b="b"/>
              <a:pathLst>
                <a:path w="2450592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395728" y="0"/>
                  </a:lnTo>
                  <a:cubicBezTo>
                    <a:pt x="2426081" y="0"/>
                    <a:pt x="2450592" y="24511"/>
                    <a:pt x="2450592" y="54864"/>
                  </a:cubicBezTo>
                  <a:lnTo>
                    <a:pt x="2450592" y="237744"/>
                  </a:lnTo>
                  <a:cubicBezTo>
                    <a:pt x="2450592" y="268097"/>
                    <a:pt x="2426081" y="292608"/>
                    <a:pt x="2395728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2589850" y="6576822"/>
            <a:ext cx="4594860" cy="219456"/>
            <a:chOff x="0" y="0"/>
            <a:chExt cx="6126480" cy="29260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126480" cy="292608"/>
            </a:xfrm>
            <a:custGeom>
              <a:avLst/>
              <a:gdLst/>
              <a:ahLst/>
              <a:cxnLst/>
              <a:rect l="l" t="t" r="r" b="b"/>
              <a:pathLst>
                <a:path w="6126480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071616" y="0"/>
                  </a:lnTo>
                  <a:cubicBezTo>
                    <a:pt x="6101969" y="0"/>
                    <a:pt x="6126480" y="24511"/>
                    <a:pt x="6126480" y="54864"/>
                  </a:cubicBezTo>
                  <a:lnTo>
                    <a:pt x="6126480" y="237744"/>
                  </a:lnTo>
                  <a:cubicBezTo>
                    <a:pt x="6126480" y="268097"/>
                    <a:pt x="6101969" y="292608"/>
                    <a:pt x="6071616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F4F9F9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2589850" y="6576822"/>
            <a:ext cx="4135374" cy="219456"/>
            <a:chOff x="0" y="0"/>
            <a:chExt cx="5513832" cy="29260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513832" cy="292608"/>
            </a:xfrm>
            <a:custGeom>
              <a:avLst/>
              <a:gdLst/>
              <a:ahLst/>
              <a:cxnLst/>
              <a:rect l="l" t="t" r="r" b="b"/>
              <a:pathLst>
                <a:path w="5513832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5458968" y="0"/>
                  </a:lnTo>
                  <a:cubicBezTo>
                    <a:pt x="5489321" y="0"/>
                    <a:pt x="5513832" y="24511"/>
                    <a:pt x="5513832" y="54864"/>
                  </a:cubicBezTo>
                  <a:lnTo>
                    <a:pt x="5513832" y="237744"/>
                  </a:lnTo>
                  <a:cubicBezTo>
                    <a:pt x="5513832" y="268097"/>
                    <a:pt x="5489321" y="292608"/>
                    <a:pt x="5458968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9366590" y="7221474"/>
            <a:ext cx="301752" cy="219456"/>
            <a:chOff x="0" y="0"/>
            <a:chExt cx="402336" cy="29260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02336" cy="292608"/>
            </a:xfrm>
            <a:custGeom>
              <a:avLst/>
              <a:gdLst/>
              <a:ahLst/>
              <a:cxnLst/>
              <a:rect l="l" t="t" r="r" b="b"/>
              <a:pathLst>
                <a:path w="402336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47472" y="0"/>
                  </a:lnTo>
                  <a:cubicBezTo>
                    <a:pt x="377825" y="0"/>
                    <a:pt x="402336" y="24511"/>
                    <a:pt x="402336" y="54864"/>
                  </a:cubicBezTo>
                  <a:lnTo>
                    <a:pt x="402336" y="237744"/>
                  </a:lnTo>
                  <a:cubicBezTo>
                    <a:pt x="402336" y="268097"/>
                    <a:pt x="377825" y="292608"/>
                    <a:pt x="347472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9778070" y="7111746"/>
            <a:ext cx="3566160" cy="438912"/>
            <a:chOff x="0" y="0"/>
            <a:chExt cx="4754880" cy="58521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Quy hoạch động (DP)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207070" y="7221474"/>
            <a:ext cx="301752" cy="219456"/>
            <a:chOff x="0" y="0"/>
            <a:chExt cx="402336" cy="29260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02336" cy="292608"/>
            </a:xfrm>
            <a:custGeom>
              <a:avLst/>
              <a:gdLst/>
              <a:ahLst/>
              <a:cxnLst/>
              <a:rect l="l" t="t" r="r" b="b"/>
              <a:pathLst>
                <a:path w="402336" h="292608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47472" y="0"/>
                  </a:lnTo>
                  <a:cubicBezTo>
                    <a:pt x="377825" y="0"/>
                    <a:pt x="402336" y="24511"/>
                    <a:pt x="402336" y="54864"/>
                  </a:cubicBezTo>
                  <a:lnTo>
                    <a:pt x="402336" y="237744"/>
                  </a:lnTo>
                  <a:cubicBezTo>
                    <a:pt x="402336" y="268097"/>
                    <a:pt x="377825" y="292608"/>
                    <a:pt x="347472" y="292608"/>
                  </a:cubicBezTo>
                  <a:lnTo>
                    <a:pt x="54864" y="292608"/>
                  </a:lnTo>
                  <a:cubicBezTo>
                    <a:pt x="24511" y="292608"/>
                    <a:pt x="0" y="268097"/>
                    <a:pt x="0" y="237744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3618550" y="7111746"/>
            <a:ext cx="3566160" cy="438912"/>
            <a:chOff x="0" y="0"/>
            <a:chExt cx="4754880" cy="58521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B2B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Tham lam (Greedy)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366590" y="7838694"/>
            <a:ext cx="7818120" cy="1440180"/>
            <a:chOff x="0" y="0"/>
            <a:chExt cx="10424160" cy="19202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424161" cy="1920240"/>
            </a:xfrm>
            <a:custGeom>
              <a:avLst/>
              <a:gdLst/>
              <a:ahLst/>
              <a:cxnLst/>
              <a:rect l="l" t="t" r="r" b="b"/>
              <a:pathLst>
                <a:path w="10424161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773936"/>
                  </a:lnTo>
                  <a:cubicBezTo>
                    <a:pt x="10424161" y="1854708"/>
                    <a:pt x="10358628" y="1920240"/>
                    <a:pt x="1027785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062B30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9709490" y="7838694"/>
            <a:ext cx="7132320" cy="1440180"/>
            <a:chOff x="0" y="0"/>
            <a:chExt cx="9509760" cy="19202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509760" cy="1920240"/>
            </a:xfrm>
            <a:custGeom>
              <a:avLst/>
              <a:gdLst/>
              <a:ahLst/>
              <a:cxnLst/>
              <a:rect l="l" t="t" r="r" b="b"/>
              <a:pathLst>
                <a:path w="9509760" h="1920240">
                  <a:moveTo>
                    <a:pt x="0" y="0"/>
                  </a:moveTo>
                  <a:lnTo>
                    <a:pt x="9509760" y="0"/>
                  </a:lnTo>
                  <a:lnTo>
                    <a:pt x="95097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497" b="-46497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9509760" cy="196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 i="1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Không có thuật toán "tốt nhất tuyệt đối" — lựa chọn phụ thuộc vào việc hệ thống ưu tiên độ chính xác tuyệt đối hay tốc độ phản hồi thời gian thực.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82610" y="10376154"/>
            <a:ext cx="10972800" cy="411480"/>
            <a:chOff x="0" y="0"/>
            <a:chExt cx="14630400" cy="54864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 SÁNH HIỆU SUẤT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926943" y="10376154"/>
            <a:ext cx="1371600" cy="411480"/>
            <a:chOff x="0" y="0"/>
            <a:chExt cx="1828800" cy="5486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 / 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475750" y="3493970"/>
            <a:ext cx="8518360" cy="3493970"/>
            <a:chOff x="0" y="0"/>
            <a:chExt cx="11357813" cy="46586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357864" cy="4658614"/>
            </a:xfrm>
            <a:custGeom>
              <a:avLst/>
              <a:gdLst/>
              <a:ahLst/>
              <a:cxnLst/>
              <a:rect l="l" t="t" r="r" b="b"/>
              <a:pathLst>
                <a:path w="11357864" h="4658614">
                  <a:moveTo>
                    <a:pt x="0" y="1096137"/>
                  </a:moveTo>
                  <a:cubicBezTo>
                    <a:pt x="0" y="490728"/>
                    <a:pt x="490728" y="0"/>
                    <a:pt x="1096137" y="0"/>
                  </a:cubicBezTo>
                  <a:lnTo>
                    <a:pt x="10261727" y="0"/>
                  </a:lnTo>
                  <a:cubicBezTo>
                    <a:pt x="10867136" y="0"/>
                    <a:pt x="11357864" y="490728"/>
                    <a:pt x="11357864" y="1096137"/>
                  </a:cubicBezTo>
                  <a:lnTo>
                    <a:pt x="11357864" y="3562477"/>
                  </a:lnTo>
                  <a:cubicBezTo>
                    <a:pt x="11357864" y="4167886"/>
                    <a:pt x="10867136" y="4658614"/>
                    <a:pt x="10261727" y="4658614"/>
                  </a:cubicBezTo>
                  <a:lnTo>
                    <a:pt x="1096137" y="4658614"/>
                  </a:lnTo>
                  <a:cubicBezTo>
                    <a:pt x="490728" y="4658614"/>
                    <a:pt x="0" y="4167886"/>
                    <a:pt x="0" y="3562477"/>
                  </a:cubicBezTo>
                  <a:close/>
                </a:path>
              </a:pathLst>
            </a:custGeom>
            <a:solidFill>
              <a:srgbClr val="E3F2F1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4910121" y="4855702"/>
            <a:ext cx="764961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 spc="150">
                <a:solidFill>
                  <a:srgbClr val="028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 · DEMO THỰC NGHIỆM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16735" y="2039293"/>
            <a:ext cx="143700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TÍCH THIẾT KẾ GIẢITHUẬT- NHÓM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161770" y="-1714500"/>
            <a:ext cx="7543800" cy="7543800"/>
            <a:chOff x="0" y="0"/>
            <a:chExt cx="10058400" cy="1005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58400" cy="10058400"/>
            </a:xfrm>
            <a:custGeom>
              <a:avLst/>
              <a:gdLst/>
              <a:ahLst/>
              <a:cxnLst/>
              <a:rect l="l" t="t" r="r" b="b"/>
              <a:pathLst>
                <a:path w="10058400" h="10058400">
                  <a:moveTo>
                    <a:pt x="0" y="0"/>
                  </a:moveTo>
                  <a:lnTo>
                    <a:pt x="10058400" y="10058400"/>
                  </a:lnTo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2297430" y="8161020"/>
            <a:ext cx="4663440" cy="4663440"/>
            <a:chOff x="0" y="0"/>
            <a:chExt cx="6217920" cy="6217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7920" cy="6217920"/>
            </a:xfrm>
            <a:custGeom>
              <a:avLst/>
              <a:gdLst/>
              <a:ahLst/>
              <a:cxnLst/>
              <a:rect l="l" t="t" r="r" b="b"/>
              <a:pathLst>
                <a:path w="6217920" h="6217920">
                  <a:moveTo>
                    <a:pt x="0" y="0"/>
                  </a:moveTo>
                  <a:lnTo>
                    <a:pt x="6217920" y="6217920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82930" y="1604772"/>
            <a:ext cx="4114800" cy="466344"/>
            <a:chOff x="0" y="0"/>
            <a:chExt cx="548640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86400" cy="621792"/>
            </a:xfrm>
            <a:custGeom>
              <a:avLst/>
              <a:gdLst/>
              <a:ahLst/>
              <a:cxnLst/>
              <a:rect l="l" t="t" r="r" b="b"/>
              <a:pathLst>
                <a:path w="5486400" h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475488"/>
                  </a:lnTo>
                  <a:cubicBezTo>
                    <a:pt x="5486400" y="556260"/>
                    <a:pt x="5420868" y="621792"/>
                    <a:pt x="5340096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82930" y="1604772"/>
            <a:ext cx="4114800" cy="466344"/>
            <a:chOff x="0" y="0"/>
            <a:chExt cx="5486400" cy="621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621792"/>
            </a:xfrm>
            <a:custGeom>
              <a:avLst/>
              <a:gdLst/>
              <a:ahLst/>
              <a:cxnLst/>
              <a:rect l="l" t="t" r="r" b="b"/>
              <a:pathLst>
                <a:path w="5486400" h="621792">
                  <a:moveTo>
                    <a:pt x="0" y="0"/>
                  </a:moveTo>
                  <a:lnTo>
                    <a:pt x="5486400" y="0"/>
                  </a:lnTo>
                  <a:lnTo>
                    <a:pt x="5486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926" b="-12192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486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15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08 · KẾT LUẬN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2930" y="2153412"/>
            <a:ext cx="15087600" cy="960120"/>
            <a:chOff x="0" y="0"/>
            <a:chExt cx="20116800" cy="12801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116800" cy="1280160"/>
            </a:xfrm>
            <a:custGeom>
              <a:avLst/>
              <a:gdLst/>
              <a:ahLst/>
              <a:cxnLst/>
              <a:rect l="l" t="t" r="r" b="b"/>
              <a:pathLst>
                <a:path w="20116800" h="128016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193" b="-25619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116800" cy="1308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luận &amp; hướng phát triển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2930" y="3566160"/>
            <a:ext cx="8023860" cy="1755648"/>
            <a:chOff x="0" y="0"/>
            <a:chExt cx="10698480" cy="2340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98480" cy="2340864"/>
            </a:xfrm>
            <a:custGeom>
              <a:avLst/>
              <a:gdLst/>
              <a:ahLst/>
              <a:cxnLst/>
              <a:rect l="l" t="t" r="r" b="b"/>
              <a:pathLst>
                <a:path w="10698480" h="234086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2157984"/>
                  </a:lnTo>
                  <a:cubicBezTo>
                    <a:pt x="10698480" y="2258949"/>
                    <a:pt x="10616565" y="2340864"/>
                    <a:pt x="10515600" y="2340864"/>
                  </a:cubicBezTo>
                  <a:lnTo>
                    <a:pt x="182880" y="2340864"/>
                  </a:lnTo>
                  <a:cubicBezTo>
                    <a:pt x="81915" y="2340864"/>
                    <a:pt x="0" y="2258949"/>
                    <a:pt x="0" y="2157984"/>
                  </a:cubicBezTo>
                  <a:close/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25830" y="3895344"/>
            <a:ext cx="685800" cy="685800"/>
            <a:chOff x="0" y="0"/>
            <a:chExt cx="9144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1E8A6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14984" y="3984498"/>
            <a:ext cx="507492" cy="507492"/>
            <a:chOff x="0" y="0"/>
            <a:chExt cx="676656" cy="676656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885950" y="3813048"/>
            <a:ext cx="6377940" cy="480060"/>
            <a:chOff x="0" y="0"/>
            <a:chExt cx="8503920" cy="6400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03920" cy="640080"/>
            </a:xfrm>
            <a:custGeom>
              <a:avLst/>
              <a:gdLst/>
              <a:ahLst/>
              <a:cxnLst/>
              <a:rect l="l" t="t" r="r" b="b"/>
              <a:pathLst>
                <a:path w="8503920" h="640080">
                  <a:moveTo>
                    <a:pt x="0" y="0"/>
                  </a:moveTo>
                  <a:lnTo>
                    <a:pt x="8503920" y="0"/>
                  </a:lnTo>
                  <a:lnTo>
                    <a:pt x="8503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872" b="-20887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50392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Mô hình hóa thành công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85950" y="4279392"/>
            <a:ext cx="6377940" cy="932688"/>
            <a:chOff x="0" y="0"/>
            <a:chExt cx="8503920" cy="12435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503920" cy="1243584"/>
            </a:xfrm>
            <a:custGeom>
              <a:avLst/>
              <a:gdLst/>
              <a:ahLst/>
              <a:cxnLst/>
              <a:rect l="l" t="t" r="r" b="b"/>
              <a:pathLst>
                <a:path w="8503920" h="1243584">
                  <a:moveTo>
                    <a:pt x="0" y="0"/>
                  </a:moveTo>
                  <a:lnTo>
                    <a:pt x="8503920" y="0"/>
                  </a:lnTo>
                  <a:lnTo>
                    <a:pt x="85039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243" b="-8324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50392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Bài toán phân bổ ngân sách quảng cáo được quy về bài toán Cái túi 0/1 kinh điển, đối chiếu thành công hai chiến lược thiết kế giải thuật.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92590" y="3566160"/>
            <a:ext cx="8023860" cy="1755648"/>
            <a:chOff x="0" y="0"/>
            <a:chExt cx="10698480" cy="23408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98480" cy="2340864"/>
            </a:xfrm>
            <a:custGeom>
              <a:avLst/>
              <a:gdLst/>
              <a:ahLst/>
              <a:cxnLst/>
              <a:rect l="l" t="t" r="r" b="b"/>
              <a:pathLst>
                <a:path w="10698480" h="234086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2157984"/>
                  </a:lnTo>
                  <a:cubicBezTo>
                    <a:pt x="10698480" y="2258949"/>
                    <a:pt x="10616565" y="2340864"/>
                    <a:pt x="10515600" y="2340864"/>
                  </a:cubicBezTo>
                  <a:lnTo>
                    <a:pt x="182880" y="2340864"/>
                  </a:lnTo>
                  <a:cubicBezTo>
                    <a:pt x="81915" y="2340864"/>
                    <a:pt x="0" y="2258949"/>
                    <a:pt x="0" y="2157984"/>
                  </a:cubicBezTo>
                  <a:close/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635490" y="3895344"/>
            <a:ext cx="685800" cy="685800"/>
            <a:chOff x="0" y="0"/>
            <a:chExt cx="91440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724644" y="3984498"/>
            <a:ext cx="507492" cy="507492"/>
            <a:chOff x="0" y="0"/>
            <a:chExt cx="676656" cy="676656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0595610" y="3813048"/>
            <a:ext cx="6377940" cy="480060"/>
            <a:chOff x="0" y="0"/>
            <a:chExt cx="8503920" cy="6400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03920" cy="640080"/>
            </a:xfrm>
            <a:custGeom>
              <a:avLst/>
              <a:gdLst/>
              <a:ahLst/>
              <a:cxnLst/>
              <a:rect l="l" t="t" r="r" b="b"/>
              <a:pathLst>
                <a:path w="8503920" h="640080">
                  <a:moveTo>
                    <a:pt x="0" y="0"/>
                  </a:moveTo>
                  <a:lnTo>
                    <a:pt x="8503920" y="0"/>
                  </a:lnTo>
                  <a:lnTo>
                    <a:pt x="8503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872" b="-20887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850392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DP chính xác, Greedy nhanh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595610" y="4279392"/>
            <a:ext cx="6377940" cy="932688"/>
            <a:chOff x="0" y="0"/>
            <a:chExt cx="8503920" cy="124358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503920" cy="1243584"/>
            </a:xfrm>
            <a:custGeom>
              <a:avLst/>
              <a:gdLst/>
              <a:ahLst/>
              <a:cxnLst/>
              <a:rect l="l" t="t" r="r" b="b"/>
              <a:pathLst>
                <a:path w="8503920" h="1243584">
                  <a:moveTo>
                    <a:pt x="0" y="0"/>
                  </a:moveTo>
                  <a:lnTo>
                    <a:pt x="8503920" y="0"/>
                  </a:lnTo>
                  <a:lnTo>
                    <a:pt x="85039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243" b="-8324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50392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 cho độ chính xác tuyệt đối nhưng giới hạn bởi bộ nhớ O(n×W); Greedy hy sinh một phần độ chính xác để đổi lấy tốc độ O(n log n) vượt trội.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82930" y="5527548"/>
            <a:ext cx="8023860" cy="1755648"/>
            <a:chOff x="0" y="0"/>
            <a:chExt cx="10698480" cy="23408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698480" cy="2340864"/>
            </a:xfrm>
            <a:custGeom>
              <a:avLst/>
              <a:gdLst/>
              <a:ahLst/>
              <a:cxnLst/>
              <a:rect l="l" t="t" r="r" b="b"/>
              <a:pathLst>
                <a:path w="10698480" h="234086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2157984"/>
                  </a:lnTo>
                  <a:cubicBezTo>
                    <a:pt x="10698480" y="2258949"/>
                    <a:pt x="10616565" y="2340864"/>
                    <a:pt x="10515600" y="2340864"/>
                  </a:cubicBezTo>
                  <a:lnTo>
                    <a:pt x="182880" y="2340864"/>
                  </a:lnTo>
                  <a:cubicBezTo>
                    <a:pt x="81915" y="2340864"/>
                    <a:pt x="0" y="2258949"/>
                    <a:pt x="0" y="2157984"/>
                  </a:cubicBezTo>
                  <a:close/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925830" y="5856732"/>
            <a:ext cx="685800" cy="685800"/>
            <a:chOff x="0" y="0"/>
            <a:chExt cx="91440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014984" y="5945886"/>
            <a:ext cx="507492" cy="507492"/>
            <a:chOff x="0" y="0"/>
            <a:chExt cx="676656" cy="676656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885950" y="5774436"/>
            <a:ext cx="6377940" cy="480060"/>
            <a:chOff x="0" y="0"/>
            <a:chExt cx="8503920" cy="6400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503920" cy="640080"/>
            </a:xfrm>
            <a:custGeom>
              <a:avLst/>
              <a:gdLst/>
              <a:ahLst/>
              <a:cxnLst/>
              <a:rect l="l" t="t" r="r" b="b"/>
              <a:pathLst>
                <a:path w="8503920" h="640080">
                  <a:moveTo>
                    <a:pt x="0" y="0"/>
                  </a:moveTo>
                  <a:lnTo>
                    <a:pt x="8503920" y="0"/>
                  </a:lnTo>
                  <a:lnTo>
                    <a:pt x="8503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872" b="-20887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850392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Đề xuất ứng dụng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85950" y="6240780"/>
            <a:ext cx="6377940" cy="932688"/>
            <a:chOff x="0" y="0"/>
            <a:chExt cx="8503920" cy="124358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503920" cy="1243584"/>
            </a:xfrm>
            <a:custGeom>
              <a:avLst/>
              <a:gdLst/>
              <a:ahLst/>
              <a:cxnLst/>
              <a:rect l="l" t="t" r="r" b="b"/>
              <a:pathLst>
                <a:path w="8503920" h="1243584">
                  <a:moveTo>
                    <a:pt x="0" y="0"/>
                  </a:moveTo>
                  <a:lnTo>
                    <a:pt x="8503920" y="0"/>
                  </a:lnTo>
                  <a:lnTo>
                    <a:pt x="85039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243" b="-8324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850392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Hệ thống đấu thầu quảng cáo thời gian thực (Real-time Bidding) nên ưu tiên Greedy, hoặc Knapsack phân số nếu nền tảng cho phép chia nhỏ số lần hiển thị.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292590" y="5527548"/>
            <a:ext cx="8023860" cy="1755648"/>
            <a:chOff x="0" y="0"/>
            <a:chExt cx="10698480" cy="234086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698480" cy="2340864"/>
            </a:xfrm>
            <a:custGeom>
              <a:avLst/>
              <a:gdLst/>
              <a:ahLst/>
              <a:cxnLst/>
              <a:rect l="l" t="t" r="r" b="b"/>
              <a:pathLst>
                <a:path w="10698480" h="234086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2157984"/>
                  </a:lnTo>
                  <a:cubicBezTo>
                    <a:pt x="10698480" y="2258949"/>
                    <a:pt x="10616565" y="2340864"/>
                    <a:pt x="10515600" y="2340864"/>
                  </a:cubicBezTo>
                  <a:lnTo>
                    <a:pt x="182880" y="2340864"/>
                  </a:lnTo>
                  <a:cubicBezTo>
                    <a:pt x="81915" y="2340864"/>
                    <a:pt x="0" y="2258949"/>
                    <a:pt x="0" y="2157984"/>
                  </a:cubicBezTo>
                  <a:close/>
                </a:path>
              </a:pathLst>
            </a:custGeom>
            <a:solidFill>
              <a:srgbClr val="0A3E44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635490" y="5856732"/>
            <a:ext cx="685800" cy="685800"/>
            <a:chOff x="0" y="0"/>
            <a:chExt cx="914400" cy="914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9724644" y="5945886"/>
            <a:ext cx="507492" cy="507492"/>
            <a:chOff x="0" y="0"/>
            <a:chExt cx="676656" cy="676656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676656" cy="676656"/>
            </a:xfrm>
            <a:custGeom>
              <a:avLst/>
              <a:gdLst/>
              <a:ahLst/>
              <a:cxnLst/>
              <a:rect l="l" t="t" r="r" b="b"/>
              <a:pathLst>
                <a:path w="676656" h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0595610" y="5774436"/>
            <a:ext cx="6377940" cy="480060"/>
            <a:chOff x="0" y="0"/>
            <a:chExt cx="8503920" cy="6400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503920" cy="640080"/>
            </a:xfrm>
            <a:custGeom>
              <a:avLst/>
              <a:gdLst/>
              <a:ahLst/>
              <a:cxnLst/>
              <a:rect l="l" t="t" r="r" b="b"/>
              <a:pathLst>
                <a:path w="8503920" h="640080">
                  <a:moveTo>
                    <a:pt x="0" y="0"/>
                  </a:moveTo>
                  <a:lnTo>
                    <a:pt x="8503920" y="0"/>
                  </a:lnTo>
                  <a:lnTo>
                    <a:pt x="8503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872" b="-208872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850392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A89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Hướng tối ưu hóa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595610" y="6240780"/>
            <a:ext cx="6377940" cy="932688"/>
            <a:chOff x="0" y="0"/>
            <a:chExt cx="8503920" cy="124358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503920" cy="1243584"/>
            </a:xfrm>
            <a:custGeom>
              <a:avLst/>
              <a:gdLst/>
              <a:ahLst/>
              <a:cxnLst/>
              <a:rect l="l" t="t" r="r" b="b"/>
              <a:pathLst>
                <a:path w="8503920" h="1243584">
                  <a:moveTo>
                    <a:pt x="0" y="0"/>
                  </a:moveTo>
                  <a:lnTo>
                    <a:pt x="8503920" y="0"/>
                  </a:lnTo>
                  <a:lnTo>
                    <a:pt x="85039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243" b="-8324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8503920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7E9E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Có thể thu gọn DP xuống O(W) bằng cách chỉ lưu 2 hàng của ma trận, nếu hệ thống không cần truy vết lại danh sách đã chọn.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82930" y="7557516"/>
            <a:ext cx="16733520" cy="850392"/>
            <a:chOff x="0" y="0"/>
            <a:chExt cx="22311360" cy="113385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2311361" cy="1133856"/>
            </a:xfrm>
            <a:custGeom>
              <a:avLst/>
              <a:gdLst/>
              <a:ahLst/>
              <a:cxnLst/>
              <a:rect l="l" t="t" r="r" b="b"/>
              <a:pathLst>
                <a:path w="22311361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lnTo>
                    <a:pt x="21744432" y="0"/>
                  </a:lnTo>
                  <a:cubicBezTo>
                    <a:pt x="22057488" y="0"/>
                    <a:pt x="22311361" y="253873"/>
                    <a:pt x="22311361" y="566928"/>
                  </a:cubicBezTo>
                  <a:cubicBezTo>
                    <a:pt x="22311361" y="879983"/>
                    <a:pt x="22057488" y="1133856"/>
                    <a:pt x="21744432" y="1133856"/>
                  </a:cubicBezTo>
                  <a:lnTo>
                    <a:pt x="566928" y="1133856"/>
                  </a:ln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08E24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582930" y="7557516"/>
            <a:ext cx="16733520" cy="850392"/>
            <a:chOff x="0" y="0"/>
            <a:chExt cx="22311360" cy="113385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2311361" cy="1133856"/>
            </a:xfrm>
            <a:custGeom>
              <a:avLst/>
              <a:gdLst/>
              <a:ahLst/>
              <a:cxnLst/>
              <a:rect l="l" t="t" r="r" b="b"/>
              <a:pathLst>
                <a:path w="22311361" h="1133856">
                  <a:moveTo>
                    <a:pt x="0" y="0"/>
                  </a:moveTo>
                  <a:lnTo>
                    <a:pt x="22311361" y="0"/>
                  </a:lnTo>
                  <a:lnTo>
                    <a:pt x="2231136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415" b="-333415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22311360" cy="1152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Cảm ơn thầy và các bạn đã theo dõi phần trình bày của Nhóm 5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82930" y="10739628"/>
            <a:ext cx="10972800" cy="411480"/>
            <a:chOff x="0" y="0"/>
            <a:chExt cx="14630400" cy="5486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KẾT LUẬN &amp; HƯỚNG PHÁT TRIỂN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6127273" y="10739628"/>
            <a:ext cx="1371600" cy="411480"/>
            <a:chOff x="0" y="0"/>
            <a:chExt cx="1828800" cy="5486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18288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5B7B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 / 15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2643</Words>
  <Application>Microsoft Office PowerPoint</Application>
  <PresentationFormat>Custom</PresentationFormat>
  <Paragraphs>424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Cambria Italics</vt:lpstr>
      <vt:lpstr>Noto Sans Bold</vt:lpstr>
      <vt:lpstr>Times New Roman Italics</vt:lpstr>
      <vt:lpstr>Times New Roman</vt:lpstr>
      <vt:lpstr>Times New Roman Bold</vt:lpstr>
      <vt:lpstr>Arial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PTTKGT_Nhom5.pptx</dc:title>
  <cp:lastModifiedBy>Nhựt Tân Lưu</cp:lastModifiedBy>
  <cp:revision>3</cp:revision>
  <dcterms:created xsi:type="dcterms:W3CDTF">2006-08-16T00:00:00Z</dcterms:created>
  <dcterms:modified xsi:type="dcterms:W3CDTF">2026-07-05T07:28:44Z</dcterms:modified>
  <dc:identifier>DAHOSi4A1HI</dc:identifier>
</cp:coreProperties>
</file>